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Hello everyone. Today I'm excited to present PayrollX AI, a modern, highly optimized enterprise HR and payroll system built with a focus on custom data structures, design patterns, and role-segregated UI intelligence.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Many legacy enterprise systems suffer from bloated dependencies, slow startup times, and standard relational database constraints. Furthermore, detecting payroll fraud or managing distinct views for employees versus administrators requires massive custom logic.</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PayrollX AI resolves these issues by bypassing heavy runtimes in favor of a native Java 17 web controller. We couple it with a persistent, in-memory H2 database and a single-page dark-mode application.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codebase is organized into clean, segregated frontend and backend folders. Maven is configured to package the frontend directly into the backend classpath at build time, ensuring the build is entirely self-contained.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schema maps 16 relational tables with cascading deletion constraints. It tracks everything from personal salary profiles and leave workflows to historical audit trails and tax records.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Instead of relying on library utilities, we built custom data structures. This includes a Trie for autocompletion, an OrgGraph for reporting lines, an LRU cache for profile lookups, and a Segment Tree for range queries on employee payroll data.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ensure scalability, we applied several classic design patterns. Notably, the Command pattern enables users to undo salary updates, and the State pattern handles leave transitions programmatically.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UI dynamically adapts to the user's role. A standard employee can only see their own leaves and profile. When an Admin or Manager logs in, they are presented with advanced metrics, approvals cards, and salary adjustment tools.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PayrollX AI features a built-in Natural Language query assistant and automated anomaly checks. The system automatically detects data inconsistencies and calculates promotion recommendations using weighted KPI ratings.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aspect of the application is tested and verified by our JUnit 5 suite. The project has been fully restructured and pushed to GitHub, making it ready for production deployment.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0C10"/>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2011680"/>
            <a:ext cx="9966960" cy="3200400"/>
          </a:xfrm>
          <a:prstGeom prst="rect">
            <a:avLst/>
          </a:prstGeom>
          <a:noFill/>
        </p:spPr>
        <p:txBody>
          <a:bodyPr wrap="square">
            <a:spAutoFit/>
          </a:bodyPr>
          <a:lstStyle/>
          <a:p>
            <a:pPr>
              <a:spcAft>
                <a:spcPts val="500"/>
              </a:spcAft>
              <a:defRPr sz="6400" b="1">
                <a:solidFill>
                  <a:srgbClr val="2DD4BF"/>
                </a:solidFill>
                <a:latin typeface="Helvetica Neue"/>
              </a:defRPr>
            </a:pPr>
            <a:r>
              <a:t>PAYROLLX AI</a:t>
            </a:r>
          </a:p>
          <a:p>
            <a:pPr>
              <a:spcAft>
                <a:spcPts val="3000"/>
              </a:spcAft>
              <a:defRPr sz="2200" b="1">
                <a:solidFill>
                  <a:srgbClr val="FFFFFF"/>
                </a:solidFill>
                <a:latin typeface="Helvetica Neue"/>
              </a:defRPr>
            </a:pPr>
            <a:r>
              <a:t>Enterprise Payroll, Custom DSAs &amp; Anomaly Detection</a:t>
            </a:r>
          </a:p>
          <a:p>
            <a:pPr>
              <a:defRPr sz="1400">
                <a:solidFill>
                  <a:srgbClr val="9CA3AF"/>
                </a:solidFill>
                <a:latin typeface="Helvetica Neue"/>
              </a:defRPr>
            </a:pPr>
            <a:r>
              <a:t>Vishesh Tomar  |  Java 17 Architecture Presentation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E1B4B"/>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731520"/>
          </a:xfrm>
          <a:prstGeom prst="rect">
            <a:avLst/>
          </a:prstGeom>
          <a:noFill/>
        </p:spPr>
        <p:txBody>
          <a:bodyPr wrap="square" lIns="0" tIns="0" bIns="0" rIns="0">
            <a:spAutoFit/>
          </a:bodyPr>
          <a:lstStyle/>
          <a:p>
            <a:pPr>
              <a:defRPr sz="2800" b="1">
                <a:solidFill>
                  <a:srgbClr val="FFFFFF"/>
                </a:solidFill>
                <a:latin typeface="Helvetica Neue"/>
              </a:defRPr>
            </a:pPr>
            <a:r>
              <a:t>The Legacy Challenge</a:t>
            </a:r>
          </a:p>
        </p:txBody>
      </p:sp>
      <p:sp>
        <p:nvSpPr>
          <p:cNvPr id="4" name="Rectangle 3"/>
          <p:cNvSpPr/>
          <p:nvPr/>
        </p:nvSpPr>
        <p:spPr>
          <a:xfrm>
            <a:off x="731520" y="1005840"/>
            <a:ext cx="10698480" cy="18288"/>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45920"/>
            <a:ext cx="5303520" cy="4114800"/>
          </a:xfrm>
          <a:prstGeom prst="rect">
            <a:avLst/>
          </a:prstGeom>
          <a:noFill/>
        </p:spPr>
        <p:txBody>
          <a:bodyPr wrap="square">
            <a:spAutoFit/>
          </a:bodyPr>
          <a:lstStyle/>
          <a:p>
            <a:pPr>
              <a:spcAft>
                <a:spcPts val="2000"/>
              </a:spcAft>
              <a:defRPr sz="2400" b="1">
                <a:solidFill>
                  <a:srgbClr val="2DD4BF"/>
                </a:solidFill>
                <a:latin typeface="Helvetica Neue"/>
              </a:defRPr>
            </a:pPr>
            <a:r>
              <a:t>Structural Vulnerability in Enterprise HR</a:t>
            </a:r>
          </a:p>
          <a:p>
            <a:pPr>
              <a:lnSpc>
                <a:spcPct val="130000"/>
              </a:lnSpc>
              <a:defRPr sz="1500">
                <a:solidFill>
                  <a:srgbClr val="FFFFFF"/>
                </a:solidFill>
                <a:latin typeface="Helvetica Neue"/>
              </a:defRPr>
            </a:pPr>
            <a:r>
              <a:t>Modern systems rely on bloated frameworks for basic server tasks, leading to heavy memory usage and sluggish boot times. Additionally, standard in-memory database setups wipe critical data across web connections, while rigid access rights result in visual clutter, exposing admin details to regular employees.</a:t>
            </a:r>
          </a:p>
        </p:txBody>
      </p:sp>
      <p:sp>
        <p:nvSpPr>
          <p:cNvPr id="6" name="Rounded Rectangle 5"/>
          <p:cNvSpPr/>
          <p:nvPr/>
        </p:nvSpPr>
        <p:spPr>
          <a:xfrm>
            <a:off x="6400800" y="1645920"/>
            <a:ext cx="5029200" cy="4114800"/>
          </a:xfrm>
          <a:prstGeom prst="roundRect">
            <a:avLst/>
          </a:prstGeom>
          <a:solidFill>
            <a:srgbClr val="1618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0" y="1828800"/>
            <a:ext cx="4663440" cy="3749040"/>
          </a:xfrm>
          <a:prstGeom prst="rect">
            <a:avLst/>
          </a:prstGeom>
          <a:noFill/>
        </p:spPr>
        <p:txBody>
          <a:bodyPr wrap="square">
            <a:spAutoFit/>
          </a:bodyPr>
          <a:lstStyle/>
          <a:p>
            <a:pPr>
              <a:spcAft>
                <a:spcPts val="1000"/>
              </a:spcAft>
              <a:defRPr b="1" sz="1800">
                <a:solidFill>
                  <a:srgbClr val="F87171"/>
                </a:solidFill>
                <a:latin typeface="Helvetica Neue"/>
              </a:defRPr>
            </a:pPr>
            <a:r>
              <a:t>CRITICAL RISK AREA: PAYROLL FRAUD</a:t>
            </a:r>
          </a:p>
          <a:p>
            <a:pPr>
              <a:defRPr sz="1300">
                <a:solidFill>
                  <a:srgbClr val="FFFFFF"/>
                </a:solidFill>
                <a:latin typeface="Helvetica Neue"/>
              </a:defRPr>
            </a:pPr>
            <a:r>
              <a:t>Without automated backend audits, companies are highly vulnerable to:</a:t>
            </a:r>
            <a:br/>
            <a:br/>
            <a:r>
              <a:t>1. Duplicated payments (identical double payouts).</a:t>
            </a:r>
            <a:br/>
            <a:r>
              <a:t>2. Overtime validation bypasses (impossible check-ins).</a:t>
            </a:r>
            <a:br/>
            <a:r>
              <a:t>3. Broken database connection logic (schema wiped at reload).</a:t>
            </a:r>
            <a:br/>
            <a:br/>
            <a:r>
              <a:t>Manual checks fail to scale as headcounts expand.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0C10"/>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731520"/>
          </a:xfrm>
          <a:prstGeom prst="rect">
            <a:avLst/>
          </a:prstGeom>
          <a:noFill/>
        </p:spPr>
        <p:txBody>
          <a:bodyPr wrap="square" lIns="0" tIns="0" bIns="0" rIns="0">
            <a:spAutoFit/>
          </a:bodyPr>
          <a:lstStyle/>
          <a:p>
            <a:pPr>
              <a:defRPr sz="2800" b="1">
                <a:solidFill>
                  <a:srgbClr val="FFFFFF"/>
                </a:solidFill>
                <a:latin typeface="Helvetica Neue"/>
              </a:defRPr>
            </a:pPr>
            <a:r>
              <a:t>The Solution: PayrollX AI Architecture</a:t>
            </a:r>
          </a:p>
        </p:txBody>
      </p:sp>
      <p:sp>
        <p:nvSpPr>
          <p:cNvPr id="4" name="Rectangle 3"/>
          <p:cNvSpPr/>
          <p:nvPr/>
        </p:nvSpPr>
        <p:spPr>
          <a:xfrm>
            <a:off x="731520" y="1005840"/>
            <a:ext cx="10698480" cy="18288"/>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3291840" cy="4114800"/>
          </a:xfrm>
          <a:prstGeom prst="roundRect">
            <a:avLst/>
          </a:prstGeom>
          <a:solidFill>
            <a:srgbClr val="1618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2926080" cy="3749040"/>
          </a:xfrm>
          <a:prstGeom prst="rect">
            <a:avLst/>
          </a:prstGeom>
          <a:noFill/>
        </p:spPr>
        <p:txBody>
          <a:bodyPr wrap="square">
            <a:spAutoFit/>
          </a:bodyPr>
          <a:lstStyle/>
          <a:p>
            <a:pPr>
              <a:spcAft>
                <a:spcPts val="1000"/>
              </a:spcAft>
              <a:defRPr b="1" sz="1800">
                <a:solidFill>
                  <a:srgbClr val="818CF8"/>
                </a:solidFill>
                <a:latin typeface="Helvetica Neue"/>
              </a:defRPr>
            </a:pPr>
            <a:r>
              <a:t>JDK Native Core</a:t>
            </a:r>
          </a:p>
          <a:p>
            <a:pPr>
              <a:defRPr sz="1300">
                <a:solidFill>
                  <a:srgbClr val="FFFFFF"/>
                </a:solidFill>
                <a:latin typeface="Helvetica Neue"/>
              </a:defRPr>
            </a:pPr>
            <a:r>
              <a:t>Runs a built-in Sun HTTP server in Java 17. Eliminates Spring/Tomcat configurations, booting in under 1.5s.</a:t>
            </a:r>
          </a:p>
        </p:txBody>
      </p:sp>
      <p:sp>
        <p:nvSpPr>
          <p:cNvPr id="7" name="Rounded Rectangle 6"/>
          <p:cNvSpPr/>
          <p:nvPr/>
        </p:nvSpPr>
        <p:spPr>
          <a:xfrm>
            <a:off x="4480559" y="1645920"/>
            <a:ext cx="3291840" cy="4114800"/>
          </a:xfrm>
          <a:prstGeom prst="roundRect">
            <a:avLst/>
          </a:prstGeom>
          <a:solidFill>
            <a:srgbClr val="1618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63439" y="1828800"/>
            <a:ext cx="2926080" cy="3749040"/>
          </a:xfrm>
          <a:prstGeom prst="rect">
            <a:avLst/>
          </a:prstGeom>
          <a:noFill/>
        </p:spPr>
        <p:txBody>
          <a:bodyPr wrap="square">
            <a:spAutoFit/>
          </a:bodyPr>
          <a:lstStyle/>
          <a:p>
            <a:pPr>
              <a:spcAft>
                <a:spcPts val="1000"/>
              </a:spcAft>
              <a:defRPr b="1" sz="1800">
                <a:solidFill>
                  <a:srgbClr val="2DD4BF"/>
                </a:solidFill>
                <a:latin typeface="Helvetica Neue"/>
              </a:defRPr>
            </a:pPr>
            <a:r>
              <a:t>Role-Segregated SPA</a:t>
            </a:r>
          </a:p>
          <a:p>
            <a:pPr>
              <a:defRPr sz="1300">
                <a:solidFill>
                  <a:srgbClr val="FFFFFF"/>
                </a:solidFill>
                <a:latin typeface="Helvetica Neue"/>
              </a:defRPr>
            </a:pPr>
            <a:r>
              <a:t>Enforces access visibility controls at frontend and API layers. Hides admin metrics from employees.</a:t>
            </a:r>
          </a:p>
        </p:txBody>
      </p:sp>
      <p:sp>
        <p:nvSpPr>
          <p:cNvPr id="9" name="Rounded Rectangle 8"/>
          <p:cNvSpPr/>
          <p:nvPr/>
        </p:nvSpPr>
        <p:spPr>
          <a:xfrm>
            <a:off x="8229600" y="1645920"/>
            <a:ext cx="3291840" cy="4114800"/>
          </a:xfrm>
          <a:prstGeom prst="roundRect">
            <a:avLst/>
          </a:prstGeom>
          <a:solidFill>
            <a:srgbClr val="1618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12480" y="1828800"/>
            <a:ext cx="2926080" cy="3749040"/>
          </a:xfrm>
          <a:prstGeom prst="rect">
            <a:avLst/>
          </a:prstGeom>
          <a:noFill/>
        </p:spPr>
        <p:txBody>
          <a:bodyPr wrap="square">
            <a:spAutoFit/>
          </a:bodyPr>
          <a:lstStyle/>
          <a:p>
            <a:pPr>
              <a:spcAft>
                <a:spcPts val="1000"/>
              </a:spcAft>
              <a:defRPr b="1" sz="1800">
                <a:solidFill>
                  <a:srgbClr val="818CF8"/>
                </a:solidFill>
                <a:latin typeface="Helvetica Neue"/>
              </a:defRPr>
            </a:pPr>
            <a:r>
              <a:t>Audit Anomaly Engine</a:t>
            </a:r>
          </a:p>
          <a:p>
            <a:pPr>
              <a:defRPr sz="1300">
                <a:solidFill>
                  <a:srgbClr val="FFFFFF"/>
                </a:solidFill>
                <a:latin typeface="Helvetica Neue"/>
              </a:defRPr>
            </a:pPr>
            <a:r>
              <a:t>Performs backend verification routines. Logs every action in database transaction logs.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0C10"/>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731520"/>
          </a:xfrm>
          <a:prstGeom prst="rect">
            <a:avLst/>
          </a:prstGeom>
          <a:noFill/>
        </p:spPr>
        <p:txBody>
          <a:bodyPr wrap="square" lIns="0" tIns="0" bIns="0" rIns="0">
            <a:spAutoFit/>
          </a:bodyPr>
          <a:lstStyle/>
          <a:p>
            <a:pPr>
              <a:defRPr sz="2800" b="1">
                <a:solidFill>
                  <a:srgbClr val="FFFFFF"/>
                </a:solidFill>
                <a:latin typeface="Helvetica Neue"/>
              </a:defRPr>
            </a:pPr>
            <a:r>
              <a:t>Unified Workspace Restructuring</a:t>
            </a:r>
          </a:p>
        </p:txBody>
      </p:sp>
      <p:sp>
        <p:nvSpPr>
          <p:cNvPr id="4" name="Rectangle 3"/>
          <p:cNvSpPr/>
          <p:nvPr/>
        </p:nvSpPr>
        <p:spPr>
          <a:xfrm>
            <a:off x="731520" y="1005840"/>
            <a:ext cx="10698480" cy="18288"/>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2377440" cy="4114800"/>
          </a:xfrm>
          <a:prstGeom prst="roundRect">
            <a:avLst/>
          </a:prstGeom>
          <a:solidFill>
            <a:srgbClr val="1618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2011680" cy="3749040"/>
          </a:xfrm>
          <a:prstGeom prst="rect">
            <a:avLst/>
          </a:prstGeom>
          <a:noFill/>
        </p:spPr>
        <p:txBody>
          <a:bodyPr wrap="square">
            <a:spAutoFit/>
          </a:bodyPr>
          <a:lstStyle/>
          <a:p>
            <a:pPr>
              <a:spcAft>
                <a:spcPts val="1000"/>
              </a:spcAft>
              <a:defRPr b="1" sz="1800">
                <a:solidFill>
                  <a:srgbClr val="2DD4BF"/>
                </a:solidFill>
                <a:latin typeface="Helvetica Neue"/>
              </a:defRPr>
            </a:pPr>
            <a:r>
              <a:t>1. Client Portal</a:t>
            </a:r>
          </a:p>
          <a:p>
            <a:pPr>
              <a:defRPr sz="1300">
                <a:solidFill>
                  <a:srgbClr val="FFFFFF"/>
                </a:solidFill>
                <a:latin typeface="Helvetica Neue"/>
              </a:defRPr>
            </a:pPr>
            <a:r>
              <a:t>HTML5 &amp; Vanilla CSS. Communicates securely via ES6 fetch parameters.</a:t>
            </a:r>
          </a:p>
        </p:txBody>
      </p:sp>
      <p:sp>
        <p:nvSpPr>
          <p:cNvPr id="7" name="Rounded Rectangle 6"/>
          <p:cNvSpPr/>
          <p:nvPr/>
        </p:nvSpPr>
        <p:spPr>
          <a:xfrm>
            <a:off x="3474720" y="1645920"/>
            <a:ext cx="2377440" cy="4114800"/>
          </a:xfrm>
          <a:prstGeom prst="roundRect">
            <a:avLst/>
          </a:prstGeom>
          <a:solidFill>
            <a:srgbClr val="1618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1828800"/>
            <a:ext cx="2011680" cy="3749040"/>
          </a:xfrm>
          <a:prstGeom prst="rect">
            <a:avLst/>
          </a:prstGeom>
          <a:noFill/>
        </p:spPr>
        <p:txBody>
          <a:bodyPr wrap="square">
            <a:spAutoFit/>
          </a:bodyPr>
          <a:lstStyle/>
          <a:p>
            <a:pPr>
              <a:spcAft>
                <a:spcPts val="1000"/>
              </a:spcAft>
              <a:defRPr b="1" sz="1800">
                <a:solidFill>
                  <a:srgbClr val="818CF8"/>
                </a:solidFill>
                <a:latin typeface="Helvetica Neue"/>
              </a:defRPr>
            </a:pPr>
            <a:r>
              <a:t>2. Embedded Server</a:t>
            </a:r>
          </a:p>
          <a:p>
            <a:pPr>
              <a:defRPr sz="1300">
                <a:solidFill>
                  <a:srgbClr val="FFFFFF"/>
                </a:solidFill>
                <a:latin typeface="Helvetica Neue"/>
              </a:defRPr>
            </a:pPr>
            <a:r>
              <a:t>Restructured backend server context mapping API pathways and decoding payloads.</a:t>
            </a:r>
          </a:p>
        </p:txBody>
      </p:sp>
      <p:sp>
        <p:nvSpPr>
          <p:cNvPr id="9" name="Rounded Rectangle 8"/>
          <p:cNvSpPr/>
          <p:nvPr/>
        </p:nvSpPr>
        <p:spPr>
          <a:xfrm>
            <a:off x="6217920" y="1645920"/>
            <a:ext cx="2377440" cy="4114800"/>
          </a:xfrm>
          <a:prstGeom prst="roundRect">
            <a:avLst/>
          </a:prstGeom>
          <a:solidFill>
            <a:srgbClr val="1618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828800"/>
            <a:ext cx="2011680" cy="3749040"/>
          </a:xfrm>
          <a:prstGeom prst="rect">
            <a:avLst/>
          </a:prstGeom>
          <a:noFill/>
        </p:spPr>
        <p:txBody>
          <a:bodyPr wrap="square">
            <a:spAutoFit/>
          </a:bodyPr>
          <a:lstStyle/>
          <a:p>
            <a:pPr>
              <a:spcAft>
                <a:spcPts val="1000"/>
              </a:spcAft>
              <a:defRPr b="1" sz="1800">
                <a:solidFill>
                  <a:srgbClr val="2DD4BF"/>
                </a:solidFill>
                <a:latin typeface="Helvetica Neue"/>
              </a:defRPr>
            </a:pPr>
            <a:r>
              <a:t>3. Intelligence Service</a:t>
            </a:r>
          </a:p>
          <a:p>
            <a:pPr>
              <a:defRPr sz="1300">
                <a:solidFill>
                  <a:srgbClr val="FFFFFF"/>
                </a:solidFill>
                <a:latin typeface="Helvetica Neue"/>
              </a:defRPr>
            </a:pPr>
            <a:r>
              <a:t>AI NLP prompt processing, anomaly checks, and workforce simulators.</a:t>
            </a:r>
          </a:p>
        </p:txBody>
      </p:sp>
      <p:sp>
        <p:nvSpPr>
          <p:cNvPr id="11" name="Rounded Rectangle 10"/>
          <p:cNvSpPr/>
          <p:nvPr/>
        </p:nvSpPr>
        <p:spPr>
          <a:xfrm>
            <a:off x="8961120" y="1645920"/>
            <a:ext cx="2377440" cy="4114800"/>
          </a:xfrm>
          <a:prstGeom prst="roundRect">
            <a:avLst/>
          </a:prstGeom>
          <a:solidFill>
            <a:srgbClr val="1618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0" y="1828800"/>
            <a:ext cx="2011680" cy="3749040"/>
          </a:xfrm>
          <a:prstGeom prst="rect">
            <a:avLst/>
          </a:prstGeom>
          <a:noFill/>
        </p:spPr>
        <p:txBody>
          <a:bodyPr wrap="square">
            <a:spAutoFit/>
          </a:bodyPr>
          <a:lstStyle/>
          <a:p>
            <a:pPr>
              <a:spcAft>
                <a:spcPts val="1000"/>
              </a:spcAft>
              <a:defRPr b="1" sz="1800">
                <a:solidFill>
                  <a:srgbClr val="818CF8"/>
                </a:solidFill>
                <a:latin typeface="Helvetica Neue"/>
              </a:defRPr>
            </a:pPr>
            <a:r>
              <a:t>4. Keep-Alive Database</a:t>
            </a:r>
          </a:p>
          <a:p>
            <a:pPr>
              <a:defRPr sz="1300">
                <a:solidFill>
                  <a:srgbClr val="FFFFFF"/>
                </a:solidFill>
                <a:latin typeface="Helvetica Neue"/>
              </a:defRPr>
            </a:pPr>
            <a:r>
              <a:t>Shared database sessions executing queries safely on H2 instances.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D4A4C"/>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731520"/>
          </a:xfrm>
          <a:prstGeom prst="rect">
            <a:avLst/>
          </a:prstGeom>
          <a:noFill/>
        </p:spPr>
        <p:txBody>
          <a:bodyPr wrap="square" lIns="0" tIns="0" bIns="0" rIns="0">
            <a:spAutoFit/>
          </a:bodyPr>
          <a:lstStyle/>
          <a:p>
            <a:pPr>
              <a:defRPr sz="2800" b="1">
                <a:solidFill>
                  <a:srgbClr val="FFFFFF"/>
                </a:solidFill>
                <a:latin typeface="Helvetica Neue"/>
              </a:defRPr>
            </a:pPr>
            <a:r>
              <a:t>Relational Database Schema</a:t>
            </a:r>
          </a:p>
        </p:txBody>
      </p:sp>
      <p:sp>
        <p:nvSpPr>
          <p:cNvPr id="4" name="Rectangle 3"/>
          <p:cNvSpPr/>
          <p:nvPr/>
        </p:nvSpPr>
        <p:spPr>
          <a:xfrm>
            <a:off x="731520" y="1005840"/>
            <a:ext cx="10698480" cy="182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3657600" cy="41148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737360"/>
            <a:ext cx="3474720" cy="3931920"/>
          </a:xfrm>
          <a:prstGeom prst="rect">
            <a:avLst/>
          </a:prstGeom>
          <a:noFill/>
        </p:spPr>
        <p:txBody>
          <a:bodyPr wrap="square">
            <a:spAutoFit/>
          </a:bodyPr>
          <a:lstStyle/>
          <a:p>
            <a:pPr algn="ctr">
              <a:spcAft>
                <a:spcPts val="200"/>
              </a:spcAft>
              <a:defRPr sz="5600" b="1">
                <a:solidFill>
                  <a:srgbClr val="2DD4BF"/>
                </a:solidFill>
                <a:latin typeface="Helvetica Neue"/>
              </a:defRPr>
            </a:pPr>
            <a:r>
              <a:t>16</a:t>
            </a:r>
          </a:p>
          <a:p>
            <a:pPr algn="ctr">
              <a:defRPr sz="1400" b="1">
                <a:solidFill>
                  <a:srgbClr val="FFFFFF"/>
                </a:solidFill>
                <a:latin typeface="Helvetica Neue"/>
              </a:defRPr>
            </a:pPr>
            <a:r>
              <a:t>Relational Database Tables</a:t>
            </a:r>
          </a:p>
        </p:txBody>
      </p:sp>
      <p:sp>
        <p:nvSpPr>
          <p:cNvPr id="7" name="Rounded Rectangle 6"/>
          <p:cNvSpPr/>
          <p:nvPr/>
        </p:nvSpPr>
        <p:spPr>
          <a:xfrm>
            <a:off x="4754880" y="1645920"/>
            <a:ext cx="6675120" cy="41148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937760" y="1828800"/>
            <a:ext cx="6309360" cy="3749040"/>
          </a:xfrm>
          <a:prstGeom prst="rect">
            <a:avLst/>
          </a:prstGeom>
          <a:noFill/>
        </p:spPr>
        <p:txBody>
          <a:bodyPr wrap="square">
            <a:spAutoFit/>
          </a:bodyPr>
          <a:lstStyle/>
          <a:p>
            <a:pPr>
              <a:spcAft>
                <a:spcPts val="1000"/>
              </a:spcAft>
              <a:defRPr b="1" sz="1800">
                <a:solidFill>
                  <a:srgbClr val="2DD4BF"/>
                </a:solidFill>
                <a:latin typeface="Helvetica Neue"/>
              </a:defRPr>
            </a:pPr>
            <a:r>
              <a:t>RELATIONAL DATA LEDGER</a:t>
            </a:r>
          </a:p>
          <a:p>
            <a:pPr>
              <a:defRPr sz="1300">
                <a:solidFill>
                  <a:srgbClr val="FFFFFF"/>
                </a:solidFill>
                <a:latin typeface="Helvetica Neue"/>
              </a:defRPr>
            </a:pPr>
            <a:r>
              <a:t>• Identity: users and roles enforcing ADMIN, HR, FINANCE, and EMPLOYEE boundaries.</a:t>
            </a:r>
            <a:br/>
            <a:br/>
            <a:r>
              <a:t>• Operations: employees, departments, and projects mapping organizational charts.</a:t>
            </a:r>
            <a:br/>
            <a:br/>
            <a:r>
              <a:t>• Attendance &amp; History: attendance logs and leave_requests workflows.</a:t>
            </a:r>
            <a:br/>
            <a:br/>
            <a:r>
              <a:t>• Financial Auditing: payroll ledger values, tax_records, and audit_logs tracker.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0C10"/>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731520"/>
          </a:xfrm>
          <a:prstGeom prst="rect">
            <a:avLst/>
          </a:prstGeom>
          <a:noFill/>
        </p:spPr>
        <p:txBody>
          <a:bodyPr wrap="square" lIns="0" tIns="0" bIns="0" rIns="0">
            <a:spAutoFit/>
          </a:bodyPr>
          <a:lstStyle/>
          <a:p>
            <a:pPr>
              <a:defRPr sz="2800" b="1">
                <a:solidFill>
                  <a:srgbClr val="FFFFFF"/>
                </a:solidFill>
                <a:latin typeface="Helvetica Neue"/>
              </a:defRPr>
            </a:pPr>
            <a:r>
              <a:t>Handcrafted Algorithms &amp; Performance</a:t>
            </a:r>
          </a:p>
        </p:txBody>
      </p:sp>
      <p:sp>
        <p:nvSpPr>
          <p:cNvPr id="4" name="Rectangle 3"/>
          <p:cNvSpPr/>
          <p:nvPr/>
        </p:nvSpPr>
        <p:spPr>
          <a:xfrm>
            <a:off x="731520" y="1005840"/>
            <a:ext cx="10698480" cy="18288"/>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5120640" cy="1920240"/>
          </a:xfrm>
          <a:prstGeom prst="roundRect">
            <a:avLst/>
          </a:prstGeom>
          <a:solidFill>
            <a:srgbClr val="1618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737360"/>
            <a:ext cx="4937760" cy="1737360"/>
          </a:xfrm>
          <a:prstGeom prst="rect">
            <a:avLst/>
          </a:prstGeom>
          <a:noFill/>
        </p:spPr>
        <p:txBody>
          <a:bodyPr wrap="square">
            <a:spAutoFit/>
          </a:bodyPr>
          <a:lstStyle/>
          <a:p>
            <a:pPr algn="ctr">
              <a:spcAft>
                <a:spcPts val="200"/>
              </a:spcAft>
              <a:defRPr sz="5600" b="1">
                <a:solidFill>
                  <a:srgbClr val="2DD4BF"/>
                </a:solidFill>
                <a:latin typeface="Helvetica Neue"/>
              </a:defRPr>
            </a:pPr>
            <a:r>
              <a:t>O(1)</a:t>
            </a:r>
          </a:p>
          <a:p>
            <a:pPr algn="ctr">
              <a:defRPr sz="1400" b="1">
                <a:solidFill>
                  <a:srgbClr val="FFFFFF"/>
                </a:solidFill>
                <a:latin typeface="Helvetica Neue"/>
              </a:defRPr>
            </a:pPr>
            <a:r>
              <a:t>LRU Profile Cache Search Speed</a:t>
            </a:r>
          </a:p>
        </p:txBody>
      </p:sp>
      <p:sp>
        <p:nvSpPr>
          <p:cNvPr id="7" name="Rounded Rectangle 6"/>
          <p:cNvSpPr/>
          <p:nvPr/>
        </p:nvSpPr>
        <p:spPr>
          <a:xfrm>
            <a:off x="6309360" y="1645920"/>
            <a:ext cx="5120640" cy="1920240"/>
          </a:xfrm>
          <a:prstGeom prst="roundRect">
            <a:avLst/>
          </a:prstGeom>
          <a:solidFill>
            <a:srgbClr val="1618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737360"/>
            <a:ext cx="4937760" cy="1737360"/>
          </a:xfrm>
          <a:prstGeom prst="rect">
            <a:avLst/>
          </a:prstGeom>
          <a:noFill/>
        </p:spPr>
        <p:txBody>
          <a:bodyPr wrap="square">
            <a:spAutoFit/>
          </a:bodyPr>
          <a:lstStyle/>
          <a:p>
            <a:pPr algn="ctr">
              <a:spcAft>
                <a:spcPts val="200"/>
              </a:spcAft>
              <a:defRPr sz="5600" b="1">
                <a:solidFill>
                  <a:srgbClr val="818CF8"/>
                </a:solidFill>
                <a:latin typeface="Helvetica Neue"/>
              </a:defRPr>
            </a:pPr>
            <a:r>
              <a:t>O(log N)</a:t>
            </a:r>
          </a:p>
          <a:p>
            <a:pPr algn="ctr">
              <a:defRPr sz="1400" b="1">
                <a:solidFill>
                  <a:srgbClr val="FFFFFF"/>
                </a:solidFill>
                <a:latin typeface="Helvetica Neue"/>
              </a:defRPr>
            </a:pPr>
            <a:r>
              <a:t>Segment Tree Salary Range Queries</a:t>
            </a:r>
          </a:p>
        </p:txBody>
      </p:sp>
      <p:sp>
        <p:nvSpPr>
          <p:cNvPr id="9" name="Rounded Rectangle 8"/>
          <p:cNvSpPr/>
          <p:nvPr/>
        </p:nvSpPr>
        <p:spPr>
          <a:xfrm>
            <a:off x="731520" y="3840480"/>
            <a:ext cx="10698480" cy="1920240"/>
          </a:xfrm>
          <a:prstGeom prst="roundRect">
            <a:avLst/>
          </a:prstGeom>
          <a:solidFill>
            <a:srgbClr val="1618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023360"/>
            <a:ext cx="10332720" cy="1554480"/>
          </a:xfrm>
          <a:prstGeom prst="rect">
            <a:avLst/>
          </a:prstGeom>
          <a:noFill/>
        </p:spPr>
        <p:txBody>
          <a:bodyPr wrap="square">
            <a:spAutoFit/>
          </a:bodyPr>
          <a:lstStyle/>
          <a:p>
            <a:pPr>
              <a:spcAft>
                <a:spcPts val="1000"/>
              </a:spcAft>
              <a:defRPr b="1" sz="1800">
                <a:solidFill>
                  <a:srgbClr val="2DD4BF"/>
                </a:solidFill>
                <a:latin typeface="Helvetica Neue"/>
              </a:defRPr>
            </a:pPr>
            <a:r>
              <a:t>ALGORITHMIC STRUCTURES IN ACTION</a:t>
            </a:r>
          </a:p>
          <a:p>
            <a:pPr>
              <a:defRPr sz="1300">
                <a:solidFill>
                  <a:srgbClr val="FFFFFF"/>
                </a:solidFill>
                <a:latin typeface="Helvetica Neue"/>
              </a:defRPr>
            </a:pPr>
            <a:r>
              <a:t>• Trie Autocomplete: Stores and indexing search keywords inside search dashboards.</a:t>
            </a:r>
            <a:br/>
            <a:r>
              <a:t>• OrgGraph reporting tree: Represents employee-to-manager links with cycle checking.</a:t>
            </a:r>
            <a:br/>
            <a:r>
              <a:t>• Custom Sorter engine: Implements QuickSort and MergeSort routines sorting rosters dynamically.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0C10"/>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731520"/>
          </a:xfrm>
          <a:prstGeom prst="rect">
            <a:avLst/>
          </a:prstGeom>
          <a:noFill/>
        </p:spPr>
        <p:txBody>
          <a:bodyPr wrap="square" lIns="0" tIns="0" bIns="0" rIns="0">
            <a:spAutoFit/>
          </a:bodyPr>
          <a:lstStyle/>
          <a:p>
            <a:pPr>
              <a:defRPr sz="2800" b="1">
                <a:solidFill>
                  <a:srgbClr val="FFFFFF"/>
                </a:solidFill>
                <a:latin typeface="Helvetica Neue"/>
              </a:defRPr>
            </a:pPr>
            <a:r>
              <a:t>Applied Design Patterns</a:t>
            </a:r>
          </a:p>
        </p:txBody>
      </p:sp>
      <p:sp>
        <p:nvSpPr>
          <p:cNvPr id="4" name="Rectangle 3"/>
          <p:cNvSpPr/>
          <p:nvPr/>
        </p:nvSpPr>
        <p:spPr>
          <a:xfrm>
            <a:off x="731520" y="1005840"/>
            <a:ext cx="10698480" cy="18288"/>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10698480" cy="914400"/>
          </a:xfrm>
          <a:prstGeom prst="roundRect">
            <a:avLst/>
          </a:prstGeom>
          <a:solidFill>
            <a:srgbClr val="16181E"/>
          </a:solidFill>
          <a:ln w="1905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83080"/>
            <a:ext cx="10332720" cy="640080"/>
          </a:xfrm>
          <a:prstGeom prst="rect">
            <a:avLst/>
          </a:prstGeom>
          <a:noFill/>
        </p:spPr>
        <p:txBody>
          <a:bodyPr wrap="square">
            <a:spAutoFit/>
          </a:bodyPr>
          <a:lstStyle/>
          <a:p>
            <a:pPr>
              <a:defRPr b="1" sz="1700">
                <a:solidFill>
                  <a:srgbClr val="2DD4BF"/>
                </a:solidFill>
                <a:latin typeface="Helvetica Neue"/>
              </a:defRPr>
            </a:pPr>
            <a:r>
              <a:t>State Pattern: </a:t>
            </a:r>
            <a:r>
              <a:rPr b="0" sz="1400">
                <a:solidFill>
                  <a:srgbClr val="FFFFFF"/>
                </a:solidFill>
              </a:rPr>
              <a:t>Regulates leave requests workflow (Pending, Approved, Rejected) preventing invalid state changes.</a:t>
            </a:r>
          </a:p>
        </p:txBody>
      </p:sp>
      <p:sp>
        <p:nvSpPr>
          <p:cNvPr id="7" name="Rounded Rectangle 6"/>
          <p:cNvSpPr/>
          <p:nvPr/>
        </p:nvSpPr>
        <p:spPr>
          <a:xfrm>
            <a:off x="731520" y="2743200"/>
            <a:ext cx="10698480" cy="914400"/>
          </a:xfrm>
          <a:prstGeom prst="roundRect">
            <a:avLst/>
          </a:prstGeom>
          <a:solidFill>
            <a:srgbClr val="16181E"/>
          </a:solidFill>
          <a:ln w="1905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880360"/>
            <a:ext cx="10332720" cy="640080"/>
          </a:xfrm>
          <a:prstGeom prst="rect">
            <a:avLst/>
          </a:prstGeom>
          <a:noFill/>
        </p:spPr>
        <p:txBody>
          <a:bodyPr wrap="square">
            <a:spAutoFit/>
          </a:bodyPr>
          <a:lstStyle/>
          <a:p>
            <a:pPr>
              <a:defRPr b="1" sz="1700">
                <a:solidFill>
                  <a:srgbClr val="818CF8"/>
                </a:solidFill>
                <a:latin typeface="Helvetica Neue"/>
              </a:defRPr>
            </a:pPr>
            <a:r>
              <a:t>Command Pattern: </a:t>
            </a:r>
            <a:r>
              <a:rPr b="0" sz="1400">
                <a:solidFill>
                  <a:srgbClr val="FFFFFF"/>
                </a:solidFill>
              </a:rPr>
              <a:t>Wraps update execution (UpdateSalaryCommand). Features a full CommandStack supporting Undo operations.</a:t>
            </a:r>
          </a:p>
        </p:txBody>
      </p:sp>
      <p:sp>
        <p:nvSpPr>
          <p:cNvPr id="9" name="Rounded Rectangle 8"/>
          <p:cNvSpPr/>
          <p:nvPr/>
        </p:nvSpPr>
        <p:spPr>
          <a:xfrm>
            <a:off x="731520" y="3840480"/>
            <a:ext cx="10698480" cy="914400"/>
          </a:xfrm>
          <a:prstGeom prst="roundRect">
            <a:avLst/>
          </a:prstGeom>
          <a:solidFill>
            <a:srgbClr val="16181E"/>
          </a:solidFill>
          <a:ln w="1905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977640"/>
            <a:ext cx="10332720" cy="640080"/>
          </a:xfrm>
          <a:prstGeom prst="rect">
            <a:avLst/>
          </a:prstGeom>
          <a:noFill/>
        </p:spPr>
        <p:txBody>
          <a:bodyPr wrap="square">
            <a:spAutoFit/>
          </a:bodyPr>
          <a:lstStyle/>
          <a:p>
            <a:pPr>
              <a:defRPr b="1" sz="1700">
                <a:solidFill>
                  <a:srgbClr val="2DD4BF"/>
                </a:solidFill>
                <a:latin typeface="Helvetica Neue"/>
              </a:defRPr>
            </a:pPr>
            <a:r>
              <a:t>Strategy Pattern: </a:t>
            </a:r>
            <a:r>
              <a:rPr b="0" sz="1400">
                <a:solidFill>
                  <a:srgbClr val="FFFFFF"/>
                </a:solidFill>
              </a:rPr>
              <a:t>Selectable equations for bonus rewards and tax calculations (Old vs New tax regime options).</a:t>
            </a:r>
          </a:p>
        </p:txBody>
      </p:sp>
      <p:sp>
        <p:nvSpPr>
          <p:cNvPr id="11" name="Rounded Rectangle 10"/>
          <p:cNvSpPr/>
          <p:nvPr/>
        </p:nvSpPr>
        <p:spPr>
          <a:xfrm>
            <a:off x="731520" y="4937759"/>
            <a:ext cx="10698480" cy="914400"/>
          </a:xfrm>
          <a:prstGeom prst="roundRect">
            <a:avLst/>
          </a:prstGeom>
          <a:solidFill>
            <a:srgbClr val="16181E"/>
          </a:solidFill>
          <a:ln w="1905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5074919"/>
            <a:ext cx="10332720" cy="640080"/>
          </a:xfrm>
          <a:prstGeom prst="rect">
            <a:avLst/>
          </a:prstGeom>
          <a:noFill/>
        </p:spPr>
        <p:txBody>
          <a:bodyPr wrap="square">
            <a:spAutoFit/>
          </a:bodyPr>
          <a:lstStyle/>
          <a:p>
            <a:pPr>
              <a:defRPr b="1" sz="1700">
                <a:solidFill>
                  <a:srgbClr val="818CF8"/>
                </a:solidFill>
                <a:latin typeface="Helvetica Neue"/>
              </a:defRPr>
            </a:pPr>
            <a:r>
              <a:t>Decorator Pattern: </a:t>
            </a:r>
            <a:r>
              <a:rPr b="0" sz="1400">
                <a:solidFill>
                  <a:srgbClr val="FFFFFF"/>
                </a:solidFill>
              </a:rPr>
              <a:t>Calculates net salary breakdown by stacking allowances (HRA, travel, medical) on top of base.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E1B4B"/>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731520"/>
          </a:xfrm>
          <a:prstGeom prst="rect">
            <a:avLst/>
          </a:prstGeom>
          <a:noFill/>
        </p:spPr>
        <p:txBody>
          <a:bodyPr wrap="square" lIns="0" tIns="0" bIns="0" rIns="0">
            <a:spAutoFit/>
          </a:bodyPr>
          <a:lstStyle/>
          <a:p>
            <a:pPr>
              <a:defRPr sz="2800" b="1">
                <a:solidFill>
                  <a:srgbClr val="FFFFFF"/>
                </a:solidFill>
                <a:latin typeface="Helvetica Neue"/>
              </a:defRPr>
            </a:pPr>
            <a:r>
              <a:t>Granular Role Dashboard Segregation</a:t>
            </a:r>
          </a:p>
        </p:txBody>
      </p:sp>
      <p:sp>
        <p:nvSpPr>
          <p:cNvPr id="4" name="Rectangle 3"/>
          <p:cNvSpPr/>
          <p:nvPr/>
        </p:nvSpPr>
        <p:spPr>
          <a:xfrm>
            <a:off x="731520" y="1005840"/>
            <a:ext cx="10698480" cy="18288"/>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2377440" cy="41148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2011680" cy="3749040"/>
          </a:xfrm>
          <a:prstGeom prst="rect">
            <a:avLst/>
          </a:prstGeom>
          <a:noFill/>
        </p:spPr>
        <p:txBody>
          <a:bodyPr wrap="square">
            <a:spAutoFit/>
          </a:bodyPr>
          <a:lstStyle/>
          <a:p>
            <a:pPr>
              <a:spcAft>
                <a:spcPts val="1000"/>
              </a:spcAft>
              <a:defRPr b="1" sz="1800">
                <a:solidFill>
                  <a:srgbClr val="2DD4BF"/>
                </a:solidFill>
                <a:latin typeface="Helvetica Neue"/>
              </a:defRPr>
            </a:pPr>
            <a:r>
              <a:t>EMPLOYEE PORTAL</a:t>
            </a:r>
            <a:br/>
            <a:br/>
            <a:r>
              <a:t>Self Services</a:t>
            </a:r>
          </a:p>
          <a:p>
            <a:pPr>
              <a:defRPr sz="1300">
                <a:solidFill>
                  <a:srgbClr val="FFFFFF"/>
                </a:solidFill>
                <a:latin typeface="Helvetica Neue"/>
              </a:defRPr>
            </a:pPr>
            <a:r>
              <a:t>Allows salary breakups review, leave submissions, and history tracking. Hides roster directory.</a:t>
            </a:r>
          </a:p>
        </p:txBody>
      </p:sp>
      <p:sp>
        <p:nvSpPr>
          <p:cNvPr id="7" name="Rounded Rectangle 6"/>
          <p:cNvSpPr/>
          <p:nvPr/>
        </p:nvSpPr>
        <p:spPr>
          <a:xfrm>
            <a:off x="3474720" y="1645920"/>
            <a:ext cx="2377440" cy="41148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1828800"/>
            <a:ext cx="2011680" cy="3749040"/>
          </a:xfrm>
          <a:prstGeom prst="rect">
            <a:avLst/>
          </a:prstGeom>
          <a:noFill/>
        </p:spPr>
        <p:txBody>
          <a:bodyPr wrap="square">
            <a:spAutoFit/>
          </a:bodyPr>
          <a:lstStyle/>
          <a:p>
            <a:pPr>
              <a:spcAft>
                <a:spcPts val="1000"/>
              </a:spcAft>
              <a:defRPr b="1" sz="1800">
                <a:solidFill>
                  <a:srgbClr val="FFFFFF"/>
                </a:solidFill>
                <a:latin typeface="Helvetica Neue"/>
              </a:defRPr>
            </a:pPr>
            <a:r>
              <a:t>HR GENERALIST</a:t>
            </a:r>
            <a:br/>
            <a:br/>
            <a:r>
              <a:t>Roster Control</a:t>
            </a:r>
          </a:p>
          <a:p>
            <a:pPr>
              <a:defRPr sz="1300">
                <a:solidFill>
                  <a:srgbClr val="FFFFFF"/>
                </a:solidFill>
                <a:latin typeface="Helvetica Neue"/>
              </a:defRPr>
            </a:pPr>
            <a:r>
              <a:t>Roster lookup directory, user creation tools, and leaves approvals panel.</a:t>
            </a:r>
          </a:p>
        </p:txBody>
      </p:sp>
      <p:sp>
        <p:nvSpPr>
          <p:cNvPr id="9" name="Rounded Rectangle 8"/>
          <p:cNvSpPr/>
          <p:nvPr/>
        </p:nvSpPr>
        <p:spPr>
          <a:xfrm>
            <a:off x="6217920" y="1645920"/>
            <a:ext cx="2377440" cy="41148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828800"/>
            <a:ext cx="2011680" cy="3749040"/>
          </a:xfrm>
          <a:prstGeom prst="rect">
            <a:avLst/>
          </a:prstGeom>
          <a:noFill/>
        </p:spPr>
        <p:txBody>
          <a:bodyPr wrap="square">
            <a:spAutoFit/>
          </a:bodyPr>
          <a:lstStyle/>
          <a:p>
            <a:pPr>
              <a:spcAft>
                <a:spcPts val="1000"/>
              </a:spcAft>
              <a:defRPr b="1" sz="1800">
                <a:solidFill>
                  <a:srgbClr val="2DD4BF"/>
                </a:solidFill>
                <a:latin typeface="Helvetica Neue"/>
              </a:defRPr>
            </a:pPr>
            <a:r>
              <a:t>FINANCE HUB</a:t>
            </a:r>
            <a:br/>
            <a:br/>
            <a:r>
              <a:t>Simulation Modelers</a:t>
            </a:r>
          </a:p>
          <a:p>
            <a:pPr>
              <a:defRPr sz="1300">
                <a:solidFill>
                  <a:srgbClr val="FFFFFF"/>
                </a:solidFill>
                <a:latin typeface="Helvetica Neue"/>
              </a:defRPr>
            </a:pPr>
            <a:r>
              <a:t>Access to salary forecasting and KPI-based promotion prioritisation.</a:t>
            </a:r>
          </a:p>
        </p:txBody>
      </p:sp>
      <p:sp>
        <p:nvSpPr>
          <p:cNvPr id="11" name="Rounded Rectangle 10"/>
          <p:cNvSpPr/>
          <p:nvPr/>
        </p:nvSpPr>
        <p:spPr>
          <a:xfrm>
            <a:off x="8961120" y="1645920"/>
            <a:ext cx="2377440" cy="41148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0" y="1828800"/>
            <a:ext cx="2011680" cy="3749040"/>
          </a:xfrm>
          <a:prstGeom prst="rect">
            <a:avLst/>
          </a:prstGeom>
          <a:noFill/>
        </p:spPr>
        <p:txBody>
          <a:bodyPr wrap="square">
            <a:spAutoFit/>
          </a:bodyPr>
          <a:lstStyle/>
          <a:p>
            <a:pPr>
              <a:spcAft>
                <a:spcPts val="1000"/>
              </a:spcAft>
              <a:defRPr b="1" sz="1800">
                <a:solidFill>
                  <a:srgbClr val="FFFFFF"/>
                </a:solidFill>
                <a:latin typeface="Helvetica Neue"/>
              </a:defRPr>
            </a:pPr>
            <a:r>
              <a:t>SUPER ADMINISTRATOR</a:t>
            </a:r>
            <a:br/>
            <a:br/>
            <a:r>
              <a:t>Audit &amp; Validation</a:t>
            </a:r>
          </a:p>
          <a:p>
            <a:pPr>
              <a:defRPr sz="1300">
                <a:solidFill>
                  <a:srgbClr val="FFFFFF"/>
                </a:solidFill>
                <a:latin typeface="Helvetica Neue"/>
              </a:defRPr>
            </a:pPr>
            <a:r>
              <a:t>Access to audit logs, company budget statistics, and anomaly detection scanners.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0C10"/>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731520"/>
          </a:xfrm>
          <a:prstGeom prst="rect">
            <a:avLst/>
          </a:prstGeom>
          <a:noFill/>
        </p:spPr>
        <p:txBody>
          <a:bodyPr wrap="square" lIns="0" tIns="0" bIns="0" rIns="0">
            <a:spAutoFit/>
          </a:bodyPr>
          <a:lstStyle/>
          <a:p>
            <a:pPr>
              <a:defRPr sz="2800" b="1">
                <a:solidFill>
                  <a:srgbClr val="FFFFFF"/>
                </a:solidFill>
                <a:latin typeface="Helvetica Neue"/>
              </a:defRPr>
            </a:pPr>
            <a:r>
              <a:t>AI Intelligence &amp; Anomalies Auditing</a:t>
            </a:r>
          </a:p>
        </p:txBody>
      </p:sp>
      <p:sp>
        <p:nvSpPr>
          <p:cNvPr id="4" name="Rectangle 3"/>
          <p:cNvSpPr/>
          <p:nvPr/>
        </p:nvSpPr>
        <p:spPr>
          <a:xfrm>
            <a:off x="731520" y="1005840"/>
            <a:ext cx="10698480" cy="18288"/>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5120640" cy="4114800"/>
          </a:xfrm>
          <a:prstGeom prst="roundRect">
            <a:avLst/>
          </a:prstGeom>
          <a:solidFill>
            <a:srgbClr val="1618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4754880" cy="3749040"/>
          </a:xfrm>
          <a:prstGeom prst="rect">
            <a:avLst/>
          </a:prstGeom>
          <a:noFill/>
        </p:spPr>
        <p:txBody>
          <a:bodyPr wrap="square">
            <a:spAutoFit/>
          </a:bodyPr>
          <a:lstStyle/>
          <a:p>
            <a:pPr>
              <a:spcAft>
                <a:spcPts val="1000"/>
              </a:spcAft>
              <a:defRPr b="1" sz="1800">
                <a:solidFill>
                  <a:srgbClr val="818CF8"/>
                </a:solidFill>
                <a:latin typeface="Helvetica Neue"/>
              </a:defRPr>
            </a:pPr>
            <a:r>
              <a:t>PREDICTIVE FORECASTS &amp; CHATBOT</a:t>
            </a:r>
          </a:p>
          <a:p>
            <a:pPr>
              <a:defRPr sz="1300">
                <a:solidFill>
                  <a:srgbClr val="FFFFFF"/>
                </a:solidFill>
                <a:latin typeface="Helvetica Neue"/>
              </a:defRPr>
            </a:pPr>
            <a:r>
              <a:t>• Conversational Chatbot: Zero-dependency NLP engine parsing queries against employee counts and salary averages.</a:t>
            </a:r>
            <a:br/>
            <a:br/>
            <a:r>
              <a:t>• Salary Forecast Simulator: Models budget forecasting and allows interactive testing of tax regime changes.</a:t>
            </a:r>
            <a:br/>
            <a:br/>
            <a:r>
              <a:t>• Ranks Candidate Priority: Ranks candidates for promotion by tracking KPI metrics and performance ratings.</a:t>
            </a:r>
          </a:p>
        </p:txBody>
      </p:sp>
      <p:sp>
        <p:nvSpPr>
          <p:cNvPr id="7" name="Rounded Rectangle 6"/>
          <p:cNvSpPr/>
          <p:nvPr/>
        </p:nvSpPr>
        <p:spPr>
          <a:xfrm>
            <a:off x="6309360" y="1645920"/>
            <a:ext cx="5120640" cy="4114800"/>
          </a:xfrm>
          <a:prstGeom prst="roundRect">
            <a:avLst/>
          </a:prstGeom>
          <a:solidFill>
            <a:srgbClr val="1618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828800"/>
            <a:ext cx="4754880" cy="3749040"/>
          </a:xfrm>
          <a:prstGeom prst="rect">
            <a:avLst/>
          </a:prstGeom>
          <a:noFill/>
        </p:spPr>
        <p:txBody>
          <a:bodyPr wrap="square">
            <a:spAutoFit/>
          </a:bodyPr>
          <a:lstStyle/>
          <a:p>
            <a:pPr>
              <a:spcAft>
                <a:spcPts val="1000"/>
              </a:spcAft>
              <a:defRPr b="1" sz="1800">
                <a:solidFill>
                  <a:srgbClr val="2DD4BF"/>
                </a:solidFill>
                <a:latin typeface="Helvetica Neue"/>
              </a:defRPr>
            </a:pPr>
            <a:r>
              <a:t>INTELLIGENT ANOMALY SCANS</a:t>
            </a:r>
          </a:p>
          <a:p>
            <a:pPr>
              <a:defRPr sz="1300">
                <a:solidFill>
                  <a:srgbClr val="FFFFFF"/>
                </a:solidFill>
                <a:latin typeface="Helvetica Neue"/>
              </a:defRPr>
            </a:pPr>
            <a:r>
              <a:t>Algorithmic verification scripts evaluate transaction records to instantly flag:</a:t>
            </a:r>
            <a:br/>
            <a:br/>
            <a:r>
              <a:t>1. Duplicated Profiles: Identifies name/email matches.</a:t>
            </a:r>
            <a:br/>
            <a:br/>
            <a:r>
              <a:t>2. Validation Errors: Negative or zero salary configurations.</a:t>
            </a:r>
            <a:br/>
            <a:br/>
            <a:r>
              <a:t>3. Impossible Attendance: Checks if check-out time precedes check-in.</a:t>
            </a:r>
            <a:br/>
            <a:br/>
            <a:r>
              <a:t>Prevents payroll fraud and keeps the ledger consistent.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D4A4C"/>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731520"/>
          </a:xfrm>
          <a:prstGeom prst="rect">
            <a:avLst/>
          </a:prstGeom>
          <a:noFill/>
        </p:spPr>
        <p:txBody>
          <a:bodyPr wrap="square" lIns="0" tIns="0" bIns="0" rIns="0">
            <a:spAutoFit/>
          </a:bodyPr>
          <a:lstStyle/>
          <a:p>
            <a:pPr>
              <a:defRPr sz="2800" b="1">
                <a:solidFill>
                  <a:srgbClr val="FFFFFF"/>
                </a:solidFill>
                <a:latin typeface="Helvetica Neue"/>
              </a:defRPr>
            </a:pPr>
            <a:r>
              <a:t>Quality Assurance &amp; Deployments</a:t>
            </a:r>
          </a:p>
        </p:txBody>
      </p:sp>
      <p:sp>
        <p:nvSpPr>
          <p:cNvPr id="4" name="Rectangle 3"/>
          <p:cNvSpPr/>
          <p:nvPr/>
        </p:nvSpPr>
        <p:spPr>
          <a:xfrm>
            <a:off x="731520" y="1005840"/>
            <a:ext cx="10698480" cy="182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3657600" cy="41148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737360"/>
            <a:ext cx="3474720" cy="3931920"/>
          </a:xfrm>
          <a:prstGeom prst="rect">
            <a:avLst/>
          </a:prstGeom>
          <a:noFill/>
        </p:spPr>
        <p:txBody>
          <a:bodyPr wrap="square">
            <a:spAutoFit/>
          </a:bodyPr>
          <a:lstStyle/>
          <a:p>
            <a:pPr algn="ctr">
              <a:spcAft>
                <a:spcPts val="200"/>
              </a:spcAft>
              <a:defRPr sz="5600" b="1">
                <a:solidFill>
                  <a:srgbClr val="FFFFFF"/>
                </a:solidFill>
                <a:latin typeface="Helvetica Neue"/>
              </a:defRPr>
            </a:pPr>
            <a:r>
              <a:t>10 / 10</a:t>
            </a:r>
          </a:p>
          <a:p>
            <a:pPr algn="ctr">
              <a:defRPr sz="1400" b="1">
                <a:solidFill>
                  <a:srgbClr val="FFFFFF"/>
                </a:solidFill>
                <a:latin typeface="Helvetica Neue"/>
              </a:defRPr>
            </a:pPr>
            <a:r>
              <a:t>JUnit 5 Passing Tests</a:t>
            </a:r>
          </a:p>
        </p:txBody>
      </p:sp>
      <p:sp>
        <p:nvSpPr>
          <p:cNvPr id="7" name="Rounded Rectangle 6"/>
          <p:cNvSpPr/>
          <p:nvPr/>
        </p:nvSpPr>
        <p:spPr>
          <a:xfrm>
            <a:off x="4754880" y="1645920"/>
            <a:ext cx="6675120" cy="41148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937760" y="1828800"/>
            <a:ext cx="6309360" cy="3749040"/>
          </a:xfrm>
          <a:prstGeom prst="rect">
            <a:avLst/>
          </a:prstGeom>
          <a:noFill/>
        </p:spPr>
        <p:txBody>
          <a:bodyPr wrap="square">
            <a:spAutoFit/>
          </a:bodyPr>
          <a:lstStyle/>
          <a:p>
            <a:pPr>
              <a:spcAft>
                <a:spcPts val="1000"/>
              </a:spcAft>
              <a:defRPr b="1" sz="1800">
                <a:solidFill>
                  <a:srgbClr val="2DD4BF"/>
                </a:solidFill>
                <a:latin typeface="Helvetica Neue"/>
              </a:defRPr>
            </a:pPr>
            <a:r>
              <a:t>BUILD &amp; INTEGRATION PIPELINE</a:t>
            </a:r>
          </a:p>
          <a:p>
            <a:pPr>
              <a:defRPr sz="1300">
                <a:solidFill>
                  <a:srgbClr val="FFFFFF"/>
                </a:solidFill>
                <a:latin typeface="Helvetica Neue"/>
              </a:defRPr>
            </a:pPr>
            <a:r>
              <a:t>• Widescreen Build Script: build.ps1 checks local Maven configurations, sets Java JDK environment variables, compiles code, and copies frontend resources.</a:t>
            </a:r>
            <a:br/>
            <a:br/>
            <a:r>
              <a:t>• Sibling Resource Mapping: Configured backend/pom.xml to bundle the frontend folder directly inside the packaged target web classpath.</a:t>
            </a:r>
            <a:br/>
            <a:br/>
            <a:r>
              <a:t>• Remote Tracking: Pushed cleanly to user repository on GitHub with correct commit author metadata.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