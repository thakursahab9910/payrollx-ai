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Hello everyone. Today I'm excited to present PayrollX AI, a modern, highly optimized enterprise HR and payroll system built with a focus on custom data structures, design patterns, and role-segregated UI intelligence.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Many legacy enterprise systems suffer from bloated dependencies, slow startup times, and standard relational database constraints. Furthermore, detecting payroll fraud or managing distinct views for employees versus administrators requires massive custom logic.</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PayrollX AI resolves these issues by bypassing heavy runtimes in favor of a native Java 17 web controller. We couple it with a persistent, in-memory H2 database and a single-page dark-mode application.</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codebase is organised into clean, segregated frontend and backend folders. Maven is configured to package the frontend directly into the backend classpath at build time, ensuring the build is entirely self-contained.</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schema maps 16 relational tables with cascading deletion constraints. It tracks everything from personal salary profiles and leave workflows to historical audit trails and tax records.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Instead of relying on library utilities, we built custom data structures. This includes a Trie for autocompletion, an OrgGraph for reporting lines, an LRU cache for profile lookups, and a Segment Tree for range queries on employee payroll data.</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ensure scalability, we applied several classic design patterns. Notably, the Command pattern enables users to undo salary updates, and the State pattern handles leave transitions programmatically.</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UI dynamically adapts to the user's role. A standard employee can only see their own leaves and profile. When an Admin or Manager logs in, they are presented with advanced metrics, approvals cards, and salary adjustment tools.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PayrollX AI features a built-in Natural Language query assistant and automated anomaly checks. The system automatically detects data inconsistencies and calculates promotion recommendations using weighted KPI ratings.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 aspect of the application is tested and verified by our JUnit 5 suite. The project has been fully restructured and pushed to GitHub, making it ready for production deployment.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21218"/>
        </a:solidFill>
        <a:effectLst/>
      </p:bgPr>
    </p:bg>
    <p:spTree>
      <p:nvGrpSpPr>
        <p:cNvPr id="1" name=""/>
        <p:cNvGrpSpPr/>
        <p:nvPr/>
      </p:nvGrpSpPr>
      <p:grpSpPr/>
      <p:sp>
        <p:nvSpPr>
          <p:cNvPr id="2" name="TextBox 1"/>
          <p:cNvSpPr txBox="1"/>
          <p:nvPr/>
        </p:nvSpPr>
        <p:spPr>
          <a:xfrm>
            <a:off x="731520" y="1828800"/>
            <a:ext cx="10698480" cy="2743200"/>
          </a:xfrm>
          <a:prstGeom prst="rect">
            <a:avLst/>
          </a:prstGeom>
          <a:noFill/>
        </p:spPr>
        <p:txBody>
          <a:bodyPr wrap="square">
            <a:spAutoFit/>
          </a:bodyPr>
          <a:lstStyle/>
          <a:p>
            <a:pPr>
              <a:defRPr sz="6400" b="1">
                <a:solidFill>
                  <a:srgbClr val="8A4BF3"/>
                </a:solidFill>
                <a:latin typeface="Arial"/>
              </a:defRPr>
            </a:pPr>
            <a:r>
              <a:t>PayrollX AI</a:t>
            </a:r>
          </a:p>
          <a:p>
            <a:pPr>
              <a:defRPr sz="2200">
                <a:solidFill>
                  <a:srgbClr val="F0F0F5"/>
                </a:solidFill>
                <a:latin typeface="Arial"/>
              </a:defRPr>
            </a:pPr>
            <a:r>
              <a:t>Enterprise Employee Payroll, Custom DSAs &amp; Workforce Intelligence</a:t>
            </a:r>
          </a:p>
          <a:p>
            <a:br/>
            <a:pPr>
              <a:defRPr sz="1400">
                <a:solidFill>
                  <a:srgbClr val="A0A0B4"/>
                </a:solidFill>
                <a:latin typeface="Arial"/>
              </a:defRPr>
            </a:pPr>
            <a:r>
              <a:t>Presented by: Vishesh Tomar</a:t>
            </a:r>
            <a:br/>
            <a:r>
              <a:t>Tech Stack: Java 17 + Sun HTTP Server + H2 Database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121218"/>
        </a:solidFill>
        <a:effectLst/>
      </p:bgPr>
    </p:bg>
    <p:spTree>
      <p:nvGrpSpPr>
        <p:cNvPr id="1" name=""/>
        <p:cNvGrpSpPr/>
        <p:nvPr/>
      </p:nvGrpSpPr>
      <p:grpSpPr/>
      <p:sp>
        <p:nvSpPr>
          <p:cNvPr id="2" name="TextBox 1"/>
          <p:cNvSpPr txBox="1"/>
          <p:nvPr/>
        </p:nvSpPr>
        <p:spPr>
          <a:xfrm>
            <a:off x="731520" y="457200"/>
            <a:ext cx="10698480" cy="914400"/>
          </a:xfrm>
          <a:prstGeom prst="rect">
            <a:avLst/>
          </a:prstGeom>
          <a:noFill/>
        </p:spPr>
        <p:txBody>
          <a:bodyPr wrap="square">
            <a:spAutoFit/>
          </a:bodyPr>
          <a:lstStyle/>
          <a:p>
            <a:pPr>
              <a:defRPr sz="3600" b="1">
                <a:solidFill>
                  <a:srgbClr val="8A4BF3"/>
                </a:solidFill>
                <a:latin typeface="Arial"/>
              </a:defRPr>
            </a:pPr>
            <a:r>
              <a:t>Legacy HR &amp; Payroll Pain Points</a:t>
            </a:r>
          </a:p>
        </p:txBody>
      </p:sp>
      <p:sp>
        <p:nvSpPr>
          <p:cNvPr id="3" name="TextBox 2"/>
          <p:cNvSpPr txBox="1"/>
          <p:nvPr/>
        </p:nvSpPr>
        <p:spPr>
          <a:xfrm>
            <a:off x="731520" y="1645920"/>
            <a:ext cx="10698480" cy="4114800"/>
          </a:xfrm>
          <a:prstGeom prst="rect">
            <a:avLst/>
          </a:prstGeom>
          <a:noFill/>
        </p:spPr>
        <p:txBody>
          <a:bodyPr wrap="square">
            <a:spAutoFit/>
          </a:bodyPr>
          <a:lstStyle/>
          <a:p>
            <a:pPr>
              <a:spcAft>
                <a:spcPts val="2000"/>
              </a:spcAft>
              <a:defRPr b="1" sz="1800">
                <a:solidFill>
                  <a:srgbClr val="F0F0F5"/>
                </a:solidFill>
              </a:defRPr>
            </a:pPr>
            <a:r>
              <a:t>•  High Resource Overhead: </a:t>
            </a:r>
            <a:r>
              <a:rPr b="0" sz="1600">
                <a:solidFill>
                  <a:srgbClr val="A0A0B4"/>
                </a:solidFill>
              </a:rPr>
              <a:t>Heavy third-party framework dependencies (Spring, etc.) for basic web serving.</a:t>
            </a:r>
          </a:p>
          <a:p>
            <a:pPr>
              <a:spcAft>
                <a:spcPts val="2000"/>
              </a:spcAft>
              <a:defRPr b="1" sz="1800">
                <a:solidFill>
                  <a:srgbClr val="F0F0F5"/>
                </a:solidFill>
              </a:defRPr>
            </a:pPr>
            <a:r>
              <a:t>•  Inflexible Database Lifetimes: </a:t>
            </a:r>
            <a:r>
              <a:rPr b="0" sz="1600">
                <a:solidFill>
                  <a:srgbClr val="A0A0B4"/>
                </a:solidFill>
              </a:rPr>
              <a:t>In-memory database schema wipes and data loss upon session reconnects.</a:t>
            </a:r>
          </a:p>
          <a:p>
            <a:pPr>
              <a:spcAft>
                <a:spcPts val="2000"/>
              </a:spcAft>
              <a:defRPr b="1" sz="1800">
                <a:solidFill>
                  <a:srgbClr val="F0F0F5"/>
                </a:solidFill>
              </a:defRPr>
            </a:pPr>
            <a:r>
              <a:t>•  Lack of Fine-Grained Role Security: </a:t>
            </a:r>
            <a:r>
              <a:rPr b="0" sz="1600">
                <a:solidFill>
                  <a:srgbClr val="A0A0B4"/>
                </a:solidFill>
              </a:rPr>
              <a:t>Trivial client dashboards mixing employee actions with administrative data.</a:t>
            </a:r>
          </a:p>
          <a:p>
            <a:pPr>
              <a:defRPr b="1" sz="1800">
                <a:solidFill>
                  <a:srgbClr val="F0F0F5"/>
                </a:solidFill>
              </a:defRPr>
            </a:pPr>
            <a:r>
              <a:t>•  Manual Audit &amp; Fraud Scans: </a:t>
            </a:r>
            <a:r>
              <a:rPr b="0" sz="1600">
                <a:solidFill>
                  <a:srgbClr val="A0A0B4"/>
                </a:solidFill>
              </a:rPr>
              <a:t>Absence of algorithmic checks for double payrolls, impossible clock-ins, or overtime spikes.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121218"/>
        </a:solidFill>
        <a:effectLst/>
      </p:bgPr>
    </p:bg>
    <p:spTree>
      <p:nvGrpSpPr>
        <p:cNvPr id="1" name=""/>
        <p:cNvGrpSpPr/>
        <p:nvPr/>
      </p:nvGrpSpPr>
      <p:grpSpPr/>
      <p:sp>
        <p:nvSpPr>
          <p:cNvPr id="2" name="TextBox 1"/>
          <p:cNvSpPr txBox="1"/>
          <p:nvPr/>
        </p:nvSpPr>
        <p:spPr>
          <a:xfrm>
            <a:off x="731520" y="457200"/>
            <a:ext cx="10698480" cy="914400"/>
          </a:xfrm>
          <a:prstGeom prst="rect">
            <a:avLst/>
          </a:prstGeom>
          <a:noFill/>
        </p:spPr>
        <p:txBody>
          <a:bodyPr wrap="square">
            <a:spAutoFit/>
          </a:bodyPr>
          <a:lstStyle/>
          <a:p>
            <a:pPr>
              <a:defRPr sz="3600" b="1">
                <a:solidFill>
                  <a:srgbClr val="8A4BF3"/>
                </a:solidFill>
                <a:latin typeface="Arial"/>
              </a:defRPr>
            </a:pPr>
            <a:r>
              <a:t>The Solution: PayrollX AI</a:t>
            </a:r>
          </a:p>
        </p:txBody>
      </p:sp>
      <p:sp>
        <p:nvSpPr>
          <p:cNvPr id="3" name="TextBox 2"/>
          <p:cNvSpPr txBox="1"/>
          <p:nvPr/>
        </p:nvSpPr>
        <p:spPr>
          <a:xfrm>
            <a:off x="731520" y="1645920"/>
            <a:ext cx="10698480" cy="4114800"/>
          </a:xfrm>
          <a:prstGeom prst="rect">
            <a:avLst/>
          </a:prstGeom>
          <a:noFill/>
        </p:spPr>
        <p:txBody>
          <a:bodyPr wrap="square">
            <a:spAutoFit/>
          </a:bodyPr>
          <a:lstStyle/>
          <a:p>
            <a:pPr>
              <a:spcAft>
                <a:spcPts val="2000"/>
              </a:spcAft>
              <a:defRPr b="1" sz="1800">
                <a:solidFill>
                  <a:srgbClr val="8A4BF3"/>
                </a:solidFill>
              </a:defRPr>
            </a:pPr>
            <a:r>
              <a:t>•  Lightweight Core Server: </a:t>
            </a:r>
            <a:r>
              <a:rPr b="0" sz="1600">
                <a:solidFill>
                  <a:srgbClr val="F0F0F5"/>
                </a:solidFill>
              </a:rPr>
              <a:t>Standard Java 17 runtime utilising the native JDK HTTP server (zero framework overhead).</a:t>
            </a:r>
          </a:p>
          <a:p>
            <a:pPr>
              <a:spcAft>
                <a:spcPts val="2000"/>
              </a:spcAft>
              <a:defRPr b="1" sz="1800">
                <a:solidFill>
                  <a:srgbClr val="8A4BF3"/>
                </a:solidFill>
              </a:defRPr>
            </a:pPr>
            <a:r>
              <a:t>•  Persistent In-Memory DB: </a:t>
            </a:r>
            <a:r>
              <a:rPr b="0" sz="1600">
                <a:solidFill>
                  <a:srgbClr val="F0F0F5"/>
                </a:solidFill>
              </a:rPr>
              <a:t>Unique keep-alive database session setup preventing schema resets during execution.</a:t>
            </a:r>
          </a:p>
          <a:p>
            <a:pPr>
              <a:spcAft>
                <a:spcPts val="2000"/>
              </a:spcAft>
              <a:defRPr b="1" sz="1800">
                <a:solidFill>
                  <a:srgbClr val="8A4BF3"/>
                </a:solidFill>
              </a:defRPr>
            </a:pPr>
            <a:r>
              <a:t>•  Dynamic Dark SPA Dashboard: </a:t>
            </a:r>
            <a:r>
              <a:rPr b="0" sz="1600">
                <a:solidFill>
                  <a:srgbClr val="F0F0F5"/>
                </a:solidFill>
              </a:rPr>
              <a:t>Glassmorphic frontend interface implementing strict Role-Based Access Control.</a:t>
            </a:r>
          </a:p>
          <a:p>
            <a:pPr>
              <a:defRPr b="1" sz="1800">
                <a:solidFill>
                  <a:srgbClr val="8A4BF3"/>
                </a:solidFill>
              </a:defRPr>
            </a:pPr>
            <a:r>
              <a:t>•  Custom Algorithmic Core: </a:t>
            </a:r>
            <a:r>
              <a:rPr b="0" sz="1600">
                <a:solidFill>
                  <a:srgbClr val="F0F0F5"/>
                </a:solidFill>
              </a:rPr>
              <a:t>Hand-written complex data structures for graph hierarchies, autocompletes, and salary range trees.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121218"/>
        </a:solidFill>
        <a:effectLst/>
      </p:bgPr>
    </p:bg>
    <p:spTree>
      <p:nvGrpSpPr>
        <p:cNvPr id="1" name=""/>
        <p:cNvGrpSpPr/>
        <p:nvPr/>
      </p:nvGrpSpPr>
      <p:grpSpPr/>
      <p:sp>
        <p:nvSpPr>
          <p:cNvPr id="2" name="TextBox 1"/>
          <p:cNvSpPr txBox="1"/>
          <p:nvPr/>
        </p:nvSpPr>
        <p:spPr>
          <a:xfrm>
            <a:off x="731520" y="457200"/>
            <a:ext cx="10698480" cy="914400"/>
          </a:xfrm>
          <a:prstGeom prst="rect">
            <a:avLst/>
          </a:prstGeom>
          <a:noFill/>
        </p:spPr>
        <p:txBody>
          <a:bodyPr wrap="square">
            <a:spAutoFit/>
          </a:bodyPr>
          <a:lstStyle/>
          <a:p>
            <a:pPr>
              <a:defRPr sz="3600" b="1">
                <a:solidFill>
                  <a:srgbClr val="8A4BF3"/>
                </a:solidFill>
                <a:latin typeface="Arial"/>
              </a:defRPr>
            </a:pPr>
            <a:r>
              <a:t>System Architecture</a:t>
            </a:r>
          </a:p>
        </p:txBody>
      </p:sp>
      <p:sp>
        <p:nvSpPr>
          <p:cNvPr id="3" name="TextBox 2"/>
          <p:cNvSpPr txBox="1"/>
          <p:nvPr/>
        </p:nvSpPr>
        <p:spPr>
          <a:xfrm>
            <a:off x="731520" y="1645920"/>
            <a:ext cx="10698480" cy="4114800"/>
          </a:xfrm>
          <a:prstGeom prst="rect">
            <a:avLst/>
          </a:prstGeom>
          <a:noFill/>
        </p:spPr>
        <p:txBody>
          <a:bodyPr wrap="square">
            <a:spAutoFit/>
          </a:bodyPr>
          <a:lstStyle/>
          <a:p>
            <a:pPr>
              <a:spcAft>
                <a:spcPts val="2000"/>
              </a:spcAft>
              <a:defRPr b="1" sz="1800">
                <a:solidFill>
                  <a:srgbClr val="F0F0F5"/>
                </a:solidFill>
              </a:defRPr>
            </a:pPr>
            <a:r>
              <a:t>•  Frontend Folder: </a:t>
            </a:r>
            <a:r>
              <a:rPr b="0" sz="1600">
                <a:solidFill>
                  <a:srgbClr val="A0A0B4"/>
                </a:solidFill>
              </a:rPr>
              <a:t>Isolated client assets (index.html) utilising native ES6 script modules and standard CSS3.</a:t>
            </a:r>
          </a:p>
          <a:p>
            <a:pPr>
              <a:spcAft>
                <a:spcPts val="2000"/>
              </a:spcAft>
              <a:defRPr b="1" sz="1800">
                <a:solidFill>
                  <a:srgbClr val="F0F0F5"/>
                </a:solidFill>
              </a:defRPr>
            </a:pPr>
            <a:r>
              <a:t>•  Backend Folder: </a:t>
            </a:r>
            <a:r>
              <a:rPr b="0" sz="1600">
                <a:solidFill>
                  <a:srgbClr val="A0A0B4"/>
                </a:solidFill>
              </a:rPr>
              <a:t>Isolated Maven project holding Java source code, schema.sql script, and configuration files.</a:t>
            </a:r>
          </a:p>
          <a:p>
            <a:pPr>
              <a:spcAft>
                <a:spcPts val="2000"/>
              </a:spcAft>
              <a:defRPr b="1" sz="1800">
                <a:solidFill>
                  <a:srgbClr val="F0F0F5"/>
                </a:solidFill>
              </a:defRPr>
            </a:pPr>
            <a:r>
              <a:t>•  REST API Layer: </a:t>
            </a:r>
            <a:r>
              <a:rPr b="0" sz="1600">
                <a:solidFill>
                  <a:srgbClr val="A0A0B4"/>
                </a:solidFill>
              </a:rPr>
              <a:t>HttpServerController mapping REST API pathways (login, registration, leaves approvals, salary updates).</a:t>
            </a:r>
          </a:p>
          <a:p>
            <a:pPr>
              <a:defRPr b="1" sz="1800">
                <a:solidFill>
                  <a:srgbClr val="F0F0F5"/>
                </a:solidFill>
              </a:defRPr>
            </a:pPr>
            <a:r>
              <a:t>•  Data Access Layer: </a:t>
            </a:r>
            <a:r>
              <a:rPr b="0" sz="1600">
                <a:solidFill>
                  <a:srgbClr val="A0A0B4"/>
                </a:solidFill>
              </a:rPr>
              <a:t>Dedicated DAO wrappers executing clean SQL statements on the H2 connection manager.</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121218"/>
        </a:solidFill>
        <a:effectLst/>
      </p:bgPr>
    </p:bg>
    <p:spTree>
      <p:nvGrpSpPr>
        <p:cNvPr id="1" name=""/>
        <p:cNvGrpSpPr/>
        <p:nvPr/>
      </p:nvGrpSpPr>
      <p:grpSpPr/>
      <p:sp>
        <p:nvSpPr>
          <p:cNvPr id="2" name="TextBox 1"/>
          <p:cNvSpPr txBox="1"/>
          <p:nvPr/>
        </p:nvSpPr>
        <p:spPr>
          <a:xfrm>
            <a:off x="731520" y="457200"/>
            <a:ext cx="10698480" cy="914400"/>
          </a:xfrm>
          <a:prstGeom prst="rect">
            <a:avLst/>
          </a:prstGeom>
          <a:noFill/>
        </p:spPr>
        <p:txBody>
          <a:bodyPr wrap="square">
            <a:spAutoFit/>
          </a:bodyPr>
          <a:lstStyle/>
          <a:p>
            <a:pPr>
              <a:defRPr sz="3600" b="1">
                <a:solidFill>
                  <a:srgbClr val="8A4BF3"/>
                </a:solidFill>
                <a:latin typeface="Arial"/>
              </a:defRPr>
            </a:pPr>
            <a:r>
              <a:t>Core Database Schema</a:t>
            </a:r>
          </a:p>
        </p:txBody>
      </p:sp>
      <p:sp>
        <p:nvSpPr>
          <p:cNvPr id="3" name="TextBox 2"/>
          <p:cNvSpPr txBox="1"/>
          <p:nvPr/>
        </p:nvSpPr>
        <p:spPr>
          <a:xfrm>
            <a:off x="731520" y="1645920"/>
            <a:ext cx="10698480" cy="4114800"/>
          </a:xfrm>
          <a:prstGeom prst="rect">
            <a:avLst/>
          </a:prstGeom>
          <a:noFill/>
        </p:spPr>
        <p:txBody>
          <a:bodyPr wrap="square">
            <a:spAutoFit/>
          </a:bodyPr>
          <a:lstStyle/>
          <a:p>
            <a:pPr>
              <a:spcAft>
                <a:spcPts val="2000"/>
              </a:spcAft>
              <a:defRPr b="1" sz="1800">
                <a:solidFill>
                  <a:srgbClr val="8A4BF3"/>
                </a:solidFill>
              </a:defRPr>
            </a:pPr>
            <a:r>
              <a:t>•  User Credentials &amp; Roles: </a:t>
            </a:r>
            <a:r>
              <a:rPr b="0" sz="1600">
                <a:solidFill>
                  <a:srgbClr val="F0F0F5"/>
                </a:solidFill>
              </a:rPr>
              <a:t>users and roles tables enforcing ADMIN, HR, FINANCE, MANAGER, and EMPLOYEE access permissions.</a:t>
            </a:r>
          </a:p>
          <a:p>
            <a:pPr>
              <a:spcAft>
                <a:spcPts val="2000"/>
              </a:spcAft>
              <a:defRPr b="1" sz="1800">
                <a:solidFill>
                  <a:srgbClr val="8A4BF3"/>
                </a:solidFill>
              </a:defRPr>
            </a:pPr>
            <a:r>
              <a:t>•  Employee Details &amp; Hierarchy: </a:t>
            </a:r>
            <a:r>
              <a:rPr b="0" sz="1600">
                <a:solidFill>
                  <a:srgbClr val="F0F0F5"/>
                </a:solidFill>
              </a:rPr>
              <a:t>employees and departments mapping salary values, contact coordinates, and reporting lines.</a:t>
            </a:r>
          </a:p>
          <a:p>
            <a:pPr>
              <a:spcAft>
                <a:spcPts val="2000"/>
              </a:spcAft>
              <a:defRPr b="1" sz="1800">
                <a:solidFill>
                  <a:srgbClr val="8A4BF3"/>
                </a:solidFill>
              </a:defRPr>
            </a:pPr>
            <a:r>
              <a:t>•  Activity &amp; Leaves Tracking: </a:t>
            </a:r>
            <a:r>
              <a:rPr b="0" sz="1600">
                <a:solidFill>
                  <a:srgbClr val="F0F0F5"/>
                </a:solidFill>
              </a:rPr>
              <a:t>attendance records and leave_requests checking timestamps and state approvals.</a:t>
            </a:r>
          </a:p>
          <a:p>
            <a:pPr>
              <a:defRPr b="1" sz="1800">
                <a:solidFill>
                  <a:srgbClr val="8A4BF3"/>
                </a:solidFill>
              </a:defRPr>
            </a:pPr>
            <a:r>
              <a:t>•  Financial Ledger &amp; Audits: </a:t>
            </a:r>
            <a:r>
              <a:rPr b="0" sz="1600">
                <a:solidFill>
                  <a:srgbClr val="F0F0F5"/>
                </a:solidFill>
              </a:rPr>
              <a:t>payroll, tax_records, and audit_logs tracking historical updates and command logs.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121218"/>
        </a:solidFill>
        <a:effectLst/>
      </p:bgPr>
    </p:bg>
    <p:spTree>
      <p:nvGrpSpPr>
        <p:cNvPr id="1" name=""/>
        <p:cNvGrpSpPr/>
        <p:nvPr/>
      </p:nvGrpSpPr>
      <p:grpSpPr/>
      <p:sp>
        <p:nvSpPr>
          <p:cNvPr id="2" name="TextBox 1"/>
          <p:cNvSpPr txBox="1"/>
          <p:nvPr/>
        </p:nvSpPr>
        <p:spPr>
          <a:xfrm>
            <a:off x="731520" y="457200"/>
            <a:ext cx="10698480" cy="914400"/>
          </a:xfrm>
          <a:prstGeom prst="rect">
            <a:avLst/>
          </a:prstGeom>
          <a:noFill/>
        </p:spPr>
        <p:txBody>
          <a:bodyPr wrap="square">
            <a:spAutoFit/>
          </a:bodyPr>
          <a:lstStyle/>
          <a:p>
            <a:pPr>
              <a:defRPr sz="3600" b="1">
                <a:solidFill>
                  <a:srgbClr val="8A4BF3"/>
                </a:solidFill>
                <a:latin typeface="Arial"/>
              </a:defRPr>
            </a:pPr>
            <a:r>
              <a:t>Custom DSA Implementations</a:t>
            </a:r>
          </a:p>
        </p:txBody>
      </p:sp>
      <p:sp>
        <p:nvSpPr>
          <p:cNvPr id="3" name="TextBox 2"/>
          <p:cNvSpPr txBox="1"/>
          <p:nvPr/>
        </p:nvSpPr>
        <p:spPr>
          <a:xfrm>
            <a:off x="731520" y="1645920"/>
            <a:ext cx="10698480" cy="4114800"/>
          </a:xfrm>
          <a:prstGeom prst="rect">
            <a:avLst/>
          </a:prstGeom>
          <a:noFill/>
        </p:spPr>
        <p:txBody>
          <a:bodyPr wrap="square">
            <a:spAutoFit/>
          </a:bodyPr>
          <a:lstStyle/>
          <a:p>
            <a:pPr>
              <a:spcAft>
                <a:spcPts val="2000"/>
              </a:spcAft>
              <a:defRPr b="1" sz="1800">
                <a:solidFill>
                  <a:srgbClr val="F0F0F5"/>
                </a:solidFill>
              </a:defRPr>
            </a:pPr>
            <a:r>
              <a:t>•  Trie Autocomplete: </a:t>
            </a:r>
            <a:r>
              <a:rPr b="0" sz="1600">
                <a:solidFill>
                  <a:srgbClr val="A0A0B4"/>
                </a:solidFill>
              </a:rPr>
              <a:t>Stores names and IDs in a search tree for instant prefix autocomplete queries.</a:t>
            </a:r>
          </a:p>
          <a:p>
            <a:pPr>
              <a:spcAft>
                <a:spcPts val="2000"/>
              </a:spcAft>
              <a:defRPr b="1" sz="1800">
                <a:solidFill>
                  <a:srgbClr val="F0F0F5"/>
                </a:solidFill>
              </a:defRPr>
            </a:pPr>
            <a:r>
              <a:t>•  OrgGraph reporting hierarchy: </a:t>
            </a:r>
            <a:r>
              <a:rPr b="0" sz="1600">
                <a:solidFill>
                  <a:srgbClr val="A0A0B4"/>
                </a:solidFill>
              </a:rPr>
              <a:t>A directed graph layout representing employee-to-manager links with cycle detection.</a:t>
            </a:r>
          </a:p>
          <a:p>
            <a:pPr>
              <a:spcAft>
                <a:spcPts val="2000"/>
              </a:spcAft>
              <a:defRPr b="1" sz="1800">
                <a:solidFill>
                  <a:srgbClr val="F0F0F5"/>
                </a:solidFill>
              </a:defRPr>
            </a:pPr>
            <a:r>
              <a:t>•  O(1) LRU Cache: </a:t>
            </a:r>
            <a:r>
              <a:rPr b="0" sz="1600">
                <a:solidFill>
                  <a:srgbClr val="A0A0B4"/>
                </a:solidFill>
              </a:rPr>
              <a:t>Caches recently retrieved employee profile records to limit SQL round-trips.</a:t>
            </a:r>
          </a:p>
          <a:p>
            <a:pPr>
              <a:spcAft>
                <a:spcPts val="2000"/>
              </a:spcAft>
              <a:defRPr b="1" sz="1800">
                <a:solidFill>
                  <a:srgbClr val="F0F0F5"/>
                </a:solidFill>
              </a:defRPr>
            </a:pPr>
            <a:r>
              <a:t>•  Segment Tree salary query: </a:t>
            </a:r>
            <a:r>
              <a:rPr b="0" sz="1600">
                <a:solidFill>
                  <a:srgbClr val="A0A0B4"/>
                </a:solidFill>
              </a:rPr>
              <a:t>Calculates range-based aggregate metrics (sum and max salaries) in O(log N) time.</a:t>
            </a:r>
          </a:p>
          <a:p>
            <a:pPr>
              <a:defRPr b="1" sz="1800">
                <a:solidFill>
                  <a:srgbClr val="F0F0F5"/>
                </a:solidFill>
              </a:defRPr>
            </a:pPr>
            <a:r>
              <a:t>•  Sorter engine: </a:t>
            </a:r>
            <a:r>
              <a:rPr b="0" sz="1600">
                <a:solidFill>
                  <a:srgbClr val="A0A0B4"/>
                </a:solidFill>
              </a:rPr>
              <a:t>Handwritten MergeSort and QuickSort classes for list sorting.</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121218"/>
        </a:solidFill>
        <a:effectLst/>
      </p:bgPr>
    </p:bg>
    <p:spTree>
      <p:nvGrpSpPr>
        <p:cNvPr id="1" name=""/>
        <p:cNvGrpSpPr/>
        <p:nvPr/>
      </p:nvGrpSpPr>
      <p:grpSpPr/>
      <p:sp>
        <p:nvSpPr>
          <p:cNvPr id="2" name="TextBox 1"/>
          <p:cNvSpPr txBox="1"/>
          <p:nvPr/>
        </p:nvSpPr>
        <p:spPr>
          <a:xfrm>
            <a:off x="731520" y="457200"/>
            <a:ext cx="10698480" cy="914400"/>
          </a:xfrm>
          <a:prstGeom prst="rect">
            <a:avLst/>
          </a:prstGeom>
          <a:noFill/>
        </p:spPr>
        <p:txBody>
          <a:bodyPr wrap="square">
            <a:spAutoFit/>
          </a:bodyPr>
          <a:lstStyle/>
          <a:p>
            <a:pPr>
              <a:defRPr sz="3600" b="1">
                <a:solidFill>
                  <a:srgbClr val="8A4BF3"/>
                </a:solidFill>
                <a:latin typeface="Arial"/>
              </a:defRPr>
            </a:pPr>
            <a:r>
              <a:t>Applied Design Patterns</a:t>
            </a:r>
          </a:p>
        </p:txBody>
      </p:sp>
      <p:sp>
        <p:nvSpPr>
          <p:cNvPr id="3" name="TextBox 2"/>
          <p:cNvSpPr txBox="1"/>
          <p:nvPr/>
        </p:nvSpPr>
        <p:spPr>
          <a:xfrm>
            <a:off x="731520" y="1645920"/>
            <a:ext cx="10698480" cy="4114800"/>
          </a:xfrm>
          <a:prstGeom prst="rect">
            <a:avLst/>
          </a:prstGeom>
          <a:noFill/>
        </p:spPr>
        <p:txBody>
          <a:bodyPr wrap="square">
            <a:spAutoFit/>
          </a:bodyPr>
          <a:lstStyle/>
          <a:p>
            <a:pPr>
              <a:spcAft>
                <a:spcPts val="2000"/>
              </a:spcAft>
              <a:defRPr b="1" sz="1800">
                <a:solidFill>
                  <a:srgbClr val="8A4BF3"/>
                </a:solidFill>
              </a:defRPr>
            </a:pPr>
            <a:r>
              <a:t>•  State Pattern: </a:t>
            </a:r>
            <a:r>
              <a:rPr b="0" sz="1600">
                <a:solidFill>
                  <a:srgbClr val="F0F0F5"/>
                </a:solidFill>
              </a:rPr>
              <a:t>Controls leave request workflow states: Pending, Approved, and Rejected.</a:t>
            </a:r>
          </a:p>
          <a:p>
            <a:pPr>
              <a:spcAft>
                <a:spcPts val="2000"/>
              </a:spcAft>
              <a:defRPr b="1" sz="1800">
                <a:solidFill>
                  <a:srgbClr val="8A4BF3"/>
                </a:solidFill>
              </a:defRPr>
            </a:pPr>
            <a:r>
              <a:t>•  Command Pattern: </a:t>
            </a:r>
            <a:r>
              <a:rPr b="0" sz="1600">
                <a:solidFill>
                  <a:srgbClr val="F0F0F5"/>
                </a:solidFill>
              </a:rPr>
              <a:t>Wraps operations (like UpdateSalaryCommand) supporting full Undo/Redo stack execution.</a:t>
            </a:r>
          </a:p>
          <a:p>
            <a:pPr>
              <a:spcAft>
                <a:spcPts val="2000"/>
              </a:spcAft>
              <a:defRPr b="1" sz="1800">
                <a:solidFill>
                  <a:srgbClr val="8A4BF3"/>
                </a:solidFill>
              </a:defRPr>
            </a:pPr>
            <a:r>
              <a:t>•  Strategy Pattern: </a:t>
            </a:r>
            <a:r>
              <a:rPr b="0" sz="1600">
                <a:solidFill>
                  <a:srgbClr val="F0F0F5"/>
                </a:solidFill>
              </a:rPr>
              <a:t>Enforces configurable equations for tax calculations (Old vs New Regime) and bonuses.</a:t>
            </a:r>
          </a:p>
          <a:p>
            <a:pPr>
              <a:spcAft>
                <a:spcPts val="2000"/>
              </a:spcAft>
              <a:defRPr b="1" sz="1800">
                <a:solidFill>
                  <a:srgbClr val="8A4BF3"/>
                </a:solidFill>
              </a:defRPr>
            </a:pPr>
            <a:r>
              <a:t>•  Decorator Pattern: </a:t>
            </a:r>
            <a:r>
              <a:rPr b="0" sz="1600">
                <a:solidFill>
                  <a:srgbClr val="F0F0F5"/>
                </a:solidFill>
              </a:rPr>
              <a:t>Calculates nested salary modifications (allowances, HRAs, medical additions) dynamically.</a:t>
            </a:r>
          </a:p>
          <a:p>
            <a:pPr>
              <a:defRPr b="1" sz="1800">
                <a:solidFill>
                  <a:srgbClr val="8A4BF3"/>
                </a:solidFill>
              </a:defRPr>
            </a:pPr>
            <a:r>
              <a:t>•  Observer &amp; Factory Patterns: </a:t>
            </a:r>
            <a:r>
              <a:rPr b="0" sz="1600">
                <a:solidFill>
                  <a:srgbClr val="F0F0F5"/>
                </a:solidFill>
              </a:rPr>
              <a:t>observer notifications system (Email, SMS, In-App alerts) and report/employee creation factories.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121218"/>
        </a:solidFill>
        <a:effectLst/>
      </p:bgPr>
    </p:bg>
    <p:spTree>
      <p:nvGrpSpPr>
        <p:cNvPr id="1" name=""/>
        <p:cNvGrpSpPr/>
        <p:nvPr/>
      </p:nvGrpSpPr>
      <p:grpSpPr/>
      <p:sp>
        <p:nvSpPr>
          <p:cNvPr id="2" name="TextBox 1"/>
          <p:cNvSpPr txBox="1"/>
          <p:nvPr/>
        </p:nvSpPr>
        <p:spPr>
          <a:xfrm>
            <a:off x="731520" y="457200"/>
            <a:ext cx="10698480" cy="914400"/>
          </a:xfrm>
          <a:prstGeom prst="rect">
            <a:avLst/>
          </a:prstGeom>
          <a:noFill/>
        </p:spPr>
        <p:txBody>
          <a:bodyPr wrap="square">
            <a:spAutoFit/>
          </a:bodyPr>
          <a:lstStyle/>
          <a:p>
            <a:pPr>
              <a:defRPr sz="3600" b="1">
                <a:solidFill>
                  <a:srgbClr val="8A4BF3"/>
                </a:solidFill>
                <a:latin typeface="Arial"/>
              </a:defRPr>
            </a:pPr>
            <a:r>
              <a:t>Role-Based Access Control (RBAC)</a:t>
            </a:r>
          </a:p>
        </p:txBody>
      </p:sp>
      <p:sp>
        <p:nvSpPr>
          <p:cNvPr id="3" name="TextBox 2"/>
          <p:cNvSpPr txBox="1"/>
          <p:nvPr/>
        </p:nvSpPr>
        <p:spPr>
          <a:xfrm>
            <a:off x="731520" y="1645920"/>
            <a:ext cx="10698480" cy="4114800"/>
          </a:xfrm>
          <a:prstGeom prst="rect">
            <a:avLst/>
          </a:prstGeom>
          <a:noFill/>
        </p:spPr>
        <p:txBody>
          <a:bodyPr wrap="square">
            <a:spAutoFit/>
          </a:bodyPr>
          <a:lstStyle/>
          <a:p>
            <a:pPr>
              <a:spcAft>
                <a:spcPts val="2000"/>
              </a:spcAft>
              <a:defRPr b="1" sz="1800">
                <a:solidFill>
                  <a:srgbClr val="F0F0F5"/>
                </a:solidFill>
              </a:defRPr>
            </a:pPr>
            <a:r>
              <a:t>•  Regular Employee Workspace: </a:t>
            </a:r>
            <a:r>
              <a:rPr b="0" sz="1600">
                <a:solidFill>
                  <a:srgbClr val="A0A0B4"/>
                </a:solidFill>
              </a:rPr>
              <a:t>Shows personal payroll logs, leave submission cards, and history list. Hides roster directory.</a:t>
            </a:r>
          </a:p>
          <a:p>
            <a:pPr>
              <a:spcAft>
                <a:spcPts val="2000"/>
              </a:spcAft>
              <a:defRPr b="1" sz="1800">
                <a:solidFill>
                  <a:srgbClr val="F0F0F5"/>
                </a:solidFill>
              </a:defRPr>
            </a:pPr>
            <a:r>
              <a:t>•  HR Manager Interface: </a:t>
            </a:r>
            <a:r>
              <a:rPr b="0" sz="1600">
                <a:solidFill>
                  <a:srgbClr val="A0A0B4"/>
                </a:solidFill>
              </a:rPr>
              <a:t>Access to complete employee rosters, registration panels, and leave request approval controls.</a:t>
            </a:r>
          </a:p>
          <a:p>
            <a:pPr>
              <a:spcAft>
                <a:spcPts val="2000"/>
              </a:spcAft>
              <a:defRPr b="1" sz="1800">
                <a:solidFill>
                  <a:srgbClr val="F0F0F5"/>
                </a:solidFill>
              </a:defRPr>
            </a:pPr>
            <a:r>
              <a:t>•  Finance Analyst Dashboard: </a:t>
            </a:r>
            <a:r>
              <a:rPr b="0" sz="1600">
                <a:solidFill>
                  <a:srgbClr val="A0A0B4"/>
                </a:solidFill>
              </a:rPr>
              <a:t>Access to salary forecast simulations and workforce promotion candidate prioritisation.</a:t>
            </a:r>
          </a:p>
          <a:p>
            <a:pPr>
              <a:defRPr b="1" sz="1800">
                <a:solidFill>
                  <a:srgbClr val="F0F0F5"/>
                </a:solidFill>
              </a:defRPr>
            </a:pPr>
            <a:r>
              <a:t>•  Super Administrator Console: </a:t>
            </a:r>
            <a:r>
              <a:rPr b="0" sz="1600">
                <a:solidFill>
                  <a:srgbClr val="A0A0B4"/>
                </a:solidFill>
              </a:rPr>
              <a:t>Full access to audit logs, company budget statistics, and anomaly detection scanners.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121218"/>
        </a:solidFill>
        <a:effectLst/>
      </p:bgPr>
    </p:bg>
    <p:spTree>
      <p:nvGrpSpPr>
        <p:cNvPr id="1" name=""/>
        <p:cNvGrpSpPr/>
        <p:nvPr/>
      </p:nvGrpSpPr>
      <p:grpSpPr/>
      <p:sp>
        <p:nvSpPr>
          <p:cNvPr id="2" name="TextBox 1"/>
          <p:cNvSpPr txBox="1"/>
          <p:nvPr/>
        </p:nvSpPr>
        <p:spPr>
          <a:xfrm>
            <a:off x="731520" y="457200"/>
            <a:ext cx="10698480" cy="914400"/>
          </a:xfrm>
          <a:prstGeom prst="rect">
            <a:avLst/>
          </a:prstGeom>
          <a:noFill/>
        </p:spPr>
        <p:txBody>
          <a:bodyPr wrap="square">
            <a:spAutoFit/>
          </a:bodyPr>
          <a:lstStyle/>
          <a:p>
            <a:pPr>
              <a:defRPr sz="3600" b="1">
                <a:solidFill>
                  <a:srgbClr val="8A4BF3"/>
                </a:solidFill>
                <a:latin typeface="Arial"/>
              </a:defRPr>
            </a:pPr>
            <a:r>
              <a:t>AI Assistant &amp; Advanced Analytics</a:t>
            </a:r>
          </a:p>
        </p:txBody>
      </p:sp>
      <p:sp>
        <p:nvSpPr>
          <p:cNvPr id="3" name="TextBox 2"/>
          <p:cNvSpPr txBox="1"/>
          <p:nvPr/>
        </p:nvSpPr>
        <p:spPr>
          <a:xfrm>
            <a:off x="731520" y="1645920"/>
            <a:ext cx="10698480" cy="4114800"/>
          </a:xfrm>
          <a:prstGeom prst="rect">
            <a:avLst/>
          </a:prstGeom>
          <a:noFill/>
        </p:spPr>
        <p:txBody>
          <a:bodyPr wrap="square">
            <a:spAutoFit/>
          </a:bodyPr>
          <a:lstStyle/>
          <a:p>
            <a:pPr>
              <a:spcAft>
                <a:spcPts val="2000"/>
              </a:spcAft>
              <a:defRPr b="1" sz="1800">
                <a:solidFill>
                  <a:srgbClr val="8A4BF3"/>
                </a:solidFill>
              </a:defRPr>
            </a:pPr>
            <a:r>
              <a:t>•  Natural Language AI Chatbot: </a:t>
            </a:r>
            <a:r>
              <a:rPr b="0" sz="1600">
                <a:solidFill>
                  <a:srgbClr val="F0F0F5"/>
                </a:solidFill>
              </a:rPr>
              <a:t>In-app AI chat window executing queries on budget thresholds and employee registries.</a:t>
            </a:r>
          </a:p>
          <a:p>
            <a:pPr>
              <a:spcAft>
                <a:spcPts val="2000"/>
              </a:spcAft>
              <a:defRPr b="1" sz="1800">
                <a:solidFill>
                  <a:srgbClr val="8A4BF3"/>
                </a:solidFill>
              </a:defRPr>
            </a:pPr>
            <a:r>
              <a:t>•  Automated Anomaly Checks: </a:t>
            </a:r>
            <a:r>
              <a:rPr b="0" sz="1600">
                <a:solidFill>
                  <a:srgbClr val="F0F0F5"/>
                </a:solidFill>
              </a:rPr>
              <a:t>Scans database records for impossible clock-ins, negative values, or duplicate payouts.</a:t>
            </a:r>
          </a:p>
          <a:p>
            <a:pPr>
              <a:spcAft>
                <a:spcPts val="2000"/>
              </a:spcAft>
              <a:defRPr b="1" sz="1800">
                <a:solidFill>
                  <a:srgbClr val="8A4BF3"/>
                </a:solidFill>
              </a:defRPr>
            </a:pPr>
            <a:r>
              <a:t>•  Workforce Salary Simulation: </a:t>
            </a:r>
            <a:r>
              <a:rPr b="0" sz="1600">
                <a:solidFill>
                  <a:srgbClr val="F0F0F5"/>
                </a:solidFill>
              </a:rPr>
              <a:t>Simulates tax regime changes and models monthly budget curves dynamically.</a:t>
            </a:r>
          </a:p>
          <a:p>
            <a:pPr>
              <a:defRPr b="1" sz="1800">
                <a:solidFill>
                  <a:srgbClr val="8A4BF3"/>
                </a:solidFill>
              </a:defRPr>
            </a:pPr>
            <a:r>
              <a:t>•  KPI Promotion recommendation: </a:t>
            </a:r>
            <a:r>
              <a:rPr b="0" sz="1600">
                <a:solidFill>
                  <a:srgbClr val="F0F0F5"/>
                </a:solidFill>
              </a:rPr>
              <a:t>Ranks candidates for promotion by tracking KPI trends and performance ratings.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121218"/>
        </a:solidFill>
        <a:effectLst/>
      </p:bgPr>
    </p:bg>
    <p:spTree>
      <p:nvGrpSpPr>
        <p:cNvPr id="1" name=""/>
        <p:cNvGrpSpPr/>
        <p:nvPr/>
      </p:nvGrpSpPr>
      <p:grpSpPr/>
      <p:sp>
        <p:nvSpPr>
          <p:cNvPr id="2" name="TextBox 1"/>
          <p:cNvSpPr txBox="1"/>
          <p:nvPr/>
        </p:nvSpPr>
        <p:spPr>
          <a:xfrm>
            <a:off x="731520" y="457200"/>
            <a:ext cx="10698480" cy="914400"/>
          </a:xfrm>
          <a:prstGeom prst="rect">
            <a:avLst/>
          </a:prstGeom>
          <a:noFill/>
        </p:spPr>
        <p:txBody>
          <a:bodyPr wrap="square">
            <a:spAutoFit/>
          </a:bodyPr>
          <a:lstStyle/>
          <a:p>
            <a:pPr>
              <a:defRPr sz="3600" b="1">
                <a:solidFill>
                  <a:srgbClr val="8A4BF3"/>
                </a:solidFill>
                <a:latin typeface="Arial"/>
              </a:defRPr>
            </a:pPr>
            <a:r>
              <a:t>Compilation &amp; Verification</a:t>
            </a:r>
          </a:p>
        </p:txBody>
      </p:sp>
      <p:sp>
        <p:nvSpPr>
          <p:cNvPr id="3" name="TextBox 2"/>
          <p:cNvSpPr txBox="1"/>
          <p:nvPr/>
        </p:nvSpPr>
        <p:spPr>
          <a:xfrm>
            <a:off x="731520" y="1645920"/>
            <a:ext cx="10698480" cy="4114800"/>
          </a:xfrm>
          <a:prstGeom prst="rect">
            <a:avLst/>
          </a:prstGeom>
          <a:noFill/>
        </p:spPr>
        <p:txBody>
          <a:bodyPr wrap="square">
            <a:spAutoFit/>
          </a:bodyPr>
          <a:lstStyle/>
          <a:p>
            <a:pPr>
              <a:spcAft>
                <a:spcPts val="2000"/>
              </a:spcAft>
              <a:defRPr b="1" sz="1800">
                <a:solidFill>
                  <a:srgbClr val="F0F0F5"/>
                </a:solidFill>
              </a:defRPr>
            </a:pPr>
            <a:r>
              <a:t>•  JUnit 5 Test Coverage: </a:t>
            </a:r>
            <a:r>
              <a:rPr b="0" sz="1600">
                <a:solidFill>
                  <a:srgbClr val="A0A0B4"/>
                </a:solidFill>
              </a:rPr>
              <a:t>10 targeted tests verifying database insertions, cache evictions, segment trees, and role states.</a:t>
            </a:r>
          </a:p>
          <a:p>
            <a:pPr>
              <a:spcAft>
                <a:spcPts val="2000"/>
              </a:spcAft>
              <a:defRPr b="1" sz="1800">
                <a:solidFill>
                  <a:srgbClr val="F0F0F5"/>
                </a:solidFill>
              </a:defRPr>
            </a:pPr>
            <a:r>
              <a:t>•  Widescreen SPA Build: </a:t>
            </a:r>
            <a:r>
              <a:rPr b="0" sz="1600">
                <a:solidFill>
                  <a:srgbClr val="A0A0B4"/>
                </a:solidFill>
              </a:rPr>
              <a:t>build.ps1 checks Adoptium packages, registers environment paths, compiles backend, and bundles frontend resources.</a:t>
            </a:r>
          </a:p>
          <a:p>
            <a:pPr>
              <a:spcAft>
                <a:spcPts val="2000"/>
              </a:spcAft>
              <a:defRPr b="1" sz="1800">
                <a:solidFill>
                  <a:srgbClr val="F0F0F5"/>
                </a:solidFill>
              </a:defRPr>
            </a:pPr>
            <a:r>
              <a:t>•  Git Version Control: </a:t>
            </a:r>
            <a:r>
              <a:rPr b="0" sz="1600">
                <a:solidFill>
                  <a:srgbClr val="A0A0B4"/>
                </a:solidFill>
              </a:rPr>
              <a:t>Fully committed monorepo pushed cleanly to user repository with correct author configurations.</a:t>
            </a:r>
          </a:p>
          <a:p>
            <a:pPr>
              <a:defRPr b="1" sz="1800">
                <a:solidFill>
                  <a:srgbClr val="F0F0F5"/>
                </a:solidFill>
              </a:defRPr>
            </a:pPr>
            <a:r>
              <a:t>•  Live Server Testing: </a:t>
            </a:r>
            <a:r>
              <a:rPr b="0" sz="1600">
                <a:solidFill>
                  <a:srgbClr val="A0A0B4"/>
                </a:solidFill>
              </a:rPr>
              <a:t>All API routes and pages verified on live Sun HTTP background server thread on port 8080.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