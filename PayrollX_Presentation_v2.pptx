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I'm excited to present PayrollX AI, a modern, highly optimized enterprise HR and payroll system built with a focus on custom data structures, design patterns, and role-segregated UI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legacy enterprise systems suffer from bloated dependencies, slow startup times, and standard relational database constraints. Furthermore, detecting payroll fraud or managing distinct views for employees versus administrators requires massive custom logic.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resolves these issues by bypassing heavy runtimes in favor of a native Java 17 web controller. We couple it with a persistent, in-memory H2 database and a single-page dark-mode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codebase is organized into clean, segregated frontend and backend folders. Maven is configured to package the frontend directly into the backend classpath at build time, ensuring the build is entirely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schema maps 16 relational tables with cascading deletion constraints. It tracks everything from personal salary profiles and leave workflows to historical audit trails and tax records.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relying on library utilities, we built custom data structures. This includes a Trie for autocompletion, an OrgGraph for reporting lines, an LRU cache for profile lookups, and a Segment Tree for range queries on employee payroll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scalability, we applied several classic design patterns. Notably, the Command pattern enables users to undo salary updates, and the State pattern handles leave transitions programmatically.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dynamically adapts to the user's role. A standard employee can only see their own leaves and profile. When an Admin or Manager logs in, they are presented with advanced metrics, approvals cards, and salary adjustment tools.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PayrollX AI features a built-in Natural Language query assistant and automated anomaly checks. The system automatically detects data inconsistencies and calculates promotion recommendations using weighted KPI ratings.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aspect of the application is tested and verified by our JUnit 5 suite. The project has been fully restructured and pushed to GitHub, making it ready for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645920"/>
            <a:ext cx="9418320" cy="347472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011680"/>
            <a:ext cx="8503920" cy="2743200"/>
          </a:xfrm>
          <a:prstGeom prst="rect">
            <a:avLst/>
          </a:prstGeom>
          <a:noFill/>
        </p:spPr>
        <p:txBody>
          <a:bodyPr wrap="square">
            <a:spAutoFit/>
          </a:bodyPr>
          <a:lstStyle/>
          <a:p>
            <a:pPr>
              <a:spcAft>
                <a:spcPts val="1000"/>
              </a:spcAft>
              <a:defRPr sz="5400" b="1">
                <a:solidFill>
                  <a:srgbClr val="14B8A6"/>
                </a:solidFill>
                <a:latin typeface="Segoe UI"/>
              </a:defRPr>
            </a:pPr>
            <a:r>
              <a:t>PAYROLLX AI</a:t>
            </a:r>
          </a:p>
          <a:p>
            <a:pPr>
              <a:spcAft>
                <a:spcPts val="2500"/>
              </a:spcAft>
              <a:defRPr sz="2000" b="1">
                <a:solidFill>
                  <a:srgbClr val="F3F4F6"/>
                </a:solidFill>
                <a:latin typeface="Segoe UI"/>
              </a:defRPr>
            </a:pPr>
            <a:r>
              <a:t>Enterprise Employee Payroll, Custom DSAs &amp; Workforce Intelligence</a:t>
            </a:r>
          </a:p>
          <a:p>
            <a:pPr>
              <a:defRPr sz="1400">
                <a:solidFill>
                  <a:srgbClr val="9CA3AF"/>
                </a:solidFill>
                <a:latin typeface="Segoe UI"/>
              </a:defRPr>
            </a:pPr>
            <a:r>
              <a:t>Architecture &amp; Implementation Presentation  |  Vishesh Tomar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Legacy HR &amp; Payroll Pain Points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303520" cy="4389120"/>
          </a:xfrm>
          <a:prstGeom prst="rect">
            <a:avLst/>
          </a:prstGeom>
          <a:noFill/>
        </p:spPr>
        <p:txBody>
          <a:bodyPr wrap="square">
            <a:spAutoFit/>
          </a:bodyPr>
          <a:lstStyle/>
          <a:p>
            <a:pPr>
              <a:spcAft>
                <a:spcPts val="2000"/>
              </a:spcAft>
              <a:defRPr b="1" sz="1800">
                <a:solidFill>
                  <a:srgbClr val="F3F4F6"/>
                </a:solidFill>
                <a:latin typeface="Segoe UI"/>
              </a:defRPr>
            </a:pPr>
            <a:r>
              <a:t>• Bloated Overheads: </a:t>
            </a:r>
            <a:r>
              <a:rPr b="0" sz="1500">
                <a:solidFill>
                  <a:srgbClr val="9CA3AF"/>
                </a:solidFill>
              </a:rPr>
              <a:t>Reliance on heavy backend frameworks (Spring Boot/Tomcat) for simple intranet server endpoints.</a:t>
            </a:r>
          </a:p>
          <a:p>
            <a:pPr>
              <a:spcAft>
                <a:spcPts val="2000"/>
              </a:spcAft>
              <a:defRPr b="1" sz="1800">
                <a:solidFill>
                  <a:srgbClr val="F3F4F6"/>
                </a:solidFill>
                <a:latin typeface="Segoe UI"/>
              </a:defRPr>
            </a:pPr>
            <a:r>
              <a:t>• Fragile In-Memory Sessions: </a:t>
            </a:r>
            <a:r>
              <a:rPr b="0" sz="1500">
                <a:solidFill>
                  <a:srgbClr val="9CA3AF"/>
                </a:solidFill>
              </a:rPr>
              <a:t>In-memory database tables wiped or re-seeded on every page connection opening.</a:t>
            </a:r>
          </a:p>
          <a:p>
            <a:pPr>
              <a:spcAft>
                <a:spcPts val="2000"/>
              </a:spcAft>
              <a:defRPr b="1" sz="1800">
                <a:solidFill>
                  <a:srgbClr val="F3F4F6"/>
                </a:solidFill>
                <a:latin typeface="Segoe UI"/>
              </a:defRPr>
            </a:pPr>
            <a:r>
              <a:t>• Monolithic Client Views: </a:t>
            </a:r>
            <a:r>
              <a:rPr b="0" sz="1500">
                <a:solidFill>
                  <a:srgbClr val="9CA3AF"/>
                </a:solidFill>
              </a:rPr>
              <a:t>Intranet interfaces showing administrative tools to simple employees.</a:t>
            </a:r>
          </a:p>
        </p:txBody>
      </p:sp>
      <p:sp>
        <p:nvSpPr>
          <p:cNvPr id="5" name="Rounded Rectangle 4"/>
          <p:cNvSpPr/>
          <p:nvPr/>
        </p:nvSpPr>
        <p:spPr>
          <a:xfrm>
            <a:off x="6400800" y="1645920"/>
            <a:ext cx="5029200" cy="4114800"/>
          </a:xfrm>
          <a:prstGeom prst="roundRect">
            <a:avLst/>
          </a:prstGeom>
          <a:solidFill>
            <a:srgbClr val="7F1D1D"/>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920240"/>
            <a:ext cx="4480560" cy="3566160"/>
          </a:xfrm>
          <a:prstGeom prst="rect">
            <a:avLst/>
          </a:prstGeom>
          <a:noFill/>
        </p:spPr>
        <p:txBody>
          <a:bodyPr wrap="square">
            <a:spAutoFit/>
          </a:bodyPr>
          <a:lstStyle/>
          <a:p>
            <a:pPr>
              <a:spcAft>
                <a:spcPts val="1500"/>
              </a:spcAft>
              <a:defRPr b="1" sz="2000">
                <a:solidFill>
                  <a:srgbClr val="F3F4F6"/>
                </a:solidFill>
                <a:latin typeface="Segoe UI"/>
              </a:defRPr>
            </a:pPr>
            <a:r>
              <a:t>CRITICAL BUSINESS DANGER</a:t>
            </a:r>
          </a:p>
          <a:p>
            <a:pPr>
              <a:defRPr sz="1500">
                <a:solidFill>
                  <a:srgbClr val="F3F4F6"/>
                </a:solidFill>
                <a:latin typeface="Segoe UI"/>
              </a:defRPr>
            </a:pPr>
            <a:r>
              <a:t>Lack of automated data audits leads to undetected payroll fraud:</a:t>
            </a:r>
            <a:br/>
            <a:br/>
            <a:r>
              <a:t>1. Duplicate monthly payment releases.</a:t>
            </a:r>
            <a:br/>
            <a:r>
              <a:t>2. Impossible overtime claims.</a:t>
            </a:r>
            <a:br/>
            <a:r>
              <a:t>3. Attendance anomalies (clocking-out before check-in).</a:t>
            </a:r>
            <a:br/>
            <a:br/>
            <a:r>
              <a:t>Manual audits fail to scale as organizational headcounts expand.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The Solution: PayrollX AI</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2926080" cy="3566160"/>
          </a:xfrm>
          <a:prstGeom prst="rect">
            <a:avLst/>
          </a:prstGeom>
          <a:noFill/>
        </p:spPr>
        <p:txBody>
          <a:bodyPr wrap="square">
            <a:spAutoFit/>
          </a:bodyPr>
          <a:lstStyle/>
          <a:p>
            <a:pPr>
              <a:spcAft>
                <a:spcPts val="2000"/>
              </a:spcAft>
              <a:defRPr b="1" sz="2200">
                <a:solidFill>
                  <a:srgbClr val="6366F1"/>
                </a:solidFill>
                <a:latin typeface="Segoe UI"/>
              </a:defRPr>
            </a:pPr>
            <a:r>
              <a:t>Lightweight Server</a:t>
            </a:r>
          </a:p>
          <a:p>
            <a:pPr>
              <a:spcBef>
                <a:spcPts val="1000"/>
              </a:spcBef>
              <a:defRPr sz="1500">
                <a:solidFill>
                  <a:srgbClr val="F3F4F6"/>
                </a:solidFill>
                <a:latin typeface="Segoe UI"/>
              </a:defRPr>
            </a:pPr>
            <a:r>
              <a:t>Utilises Java 17 native Sun HTTP Server on port 8080. Booting takes less than 1.5 seconds, running at zero overhead.</a:t>
            </a:r>
          </a:p>
        </p:txBody>
      </p:sp>
      <p:sp>
        <p:nvSpPr>
          <p:cNvPr id="6" name="Rounded Rectangle 5"/>
          <p:cNvSpPr/>
          <p:nvPr/>
        </p:nvSpPr>
        <p:spPr>
          <a:xfrm>
            <a:off x="4480559" y="1645920"/>
            <a:ext cx="32918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39" y="1920240"/>
            <a:ext cx="2926080" cy="3566160"/>
          </a:xfrm>
          <a:prstGeom prst="rect">
            <a:avLst/>
          </a:prstGeom>
          <a:noFill/>
        </p:spPr>
        <p:txBody>
          <a:bodyPr wrap="square">
            <a:spAutoFit/>
          </a:bodyPr>
          <a:lstStyle/>
          <a:p>
            <a:pPr>
              <a:spcAft>
                <a:spcPts val="2000"/>
              </a:spcAft>
              <a:defRPr b="1" sz="2200">
                <a:solidFill>
                  <a:srgbClr val="14B8A6"/>
                </a:solidFill>
                <a:latin typeface="Segoe UI"/>
              </a:defRPr>
            </a:pPr>
            <a:r>
              <a:t>Isolated SPA Portal</a:t>
            </a:r>
          </a:p>
          <a:p>
            <a:pPr>
              <a:spcBef>
                <a:spcPts val="1000"/>
              </a:spcBef>
              <a:defRPr sz="1500">
                <a:solidFill>
                  <a:srgbClr val="F3F4F6"/>
                </a:solidFill>
                <a:latin typeface="Segoe UI"/>
              </a:defRPr>
            </a:pPr>
            <a:r>
              <a:t>Segregated interface based entirely on role types. Employees see self-services; Admins see roster controls.</a:t>
            </a:r>
          </a:p>
        </p:txBody>
      </p:sp>
      <p:sp>
        <p:nvSpPr>
          <p:cNvPr id="8" name="Rounded Rectangle 7"/>
          <p:cNvSpPr/>
          <p:nvPr/>
        </p:nvSpPr>
        <p:spPr>
          <a:xfrm>
            <a:off x="8229600" y="1645920"/>
            <a:ext cx="32918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920240"/>
            <a:ext cx="2926080" cy="3566160"/>
          </a:xfrm>
          <a:prstGeom prst="rect">
            <a:avLst/>
          </a:prstGeom>
          <a:noFill/>
        </p:spPr>
        <p:txBody>
          <a:bodyPr wrap="square">
            <a:spAutoFit/>
          </a:bodyPr>
          <a:lstStyle/>
          <a:p>
            <a:pPr>
              <a:spcAft>
                <a:spcPts val="2000"/>
              </a:spcAft>
              <a:defRPr b="1" sz="2200">
                <a:solidFill>
                  <a:srgbClr val="6366F1"/>
                </a:solidFill>
                <a:latin typeface="Segoe UI"/>
              </a:defRPr>
            </a:pPr>
            <a:r>
              <a:t>Intelligence Engine</a:t>
            </a:r>
          </a:p>
          <a:p>
            <a:pPr>
              <a:spcBef>
                <a:spcPts val="1000"/>
              </a:spcBef>
              <a:defRPr sz="1500">
                <a:solidFill>
                  <a:srgbClr val="F3F4F6"/>
                </a:solidFill>
                <a:latin typeface="Segoe UI"/>
              </a:defRPr>
            </a:pPr>
            <a:r>
              <a:t>Programmatic verification algorithms identifying fraud checks, salary forecasting, and promotion candidates.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Layered Architecture Flow</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1. Frontend SPA</a:t>
            </a:r>
          </a:p>
          <a:p>
            <a:pPr>
              <a:defRPr sz="1400">
                <a:solidFill>
                  <a:srgbClr val="F3F4F6"/>
                </a:solidFill>
                <a:latin typeface="Segoe UI"/>
              </a:defRPr>
            </a:pPr>
            <a:r>
              <a:t>HTML5 &amp; Vanilla CSS. Communicates securely via ES6 fetch parameters.</a:t>
            </a:r>
          </a:p>
        </p:txBody>
      </p:sp>
      <p:sp>
        <p:nvSpPr>
          <p:cNvPr id="6" name="Rounded Rectangle 5"/>
          <p:cNvSpPr/>
          <p:nvPr/>
        </p:nvSpPr>
        <p:spPr>
          <a:xfrm>
            <a:off x="34747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2. REST API Controller</a:t>
            </a:r>
          </a:p>
          <a:p>
            <a:pPr>
              <a:defRPr sz="1400">
                <a:solidFill>
                  <a:srgbClr val="F3F4F6"/>
                </a:solidFill>
                <a:latin typeface="Segoe UI"/>
              </a:defRPr>
            </a:pPr>
            <a:r>
              <a:t>Embedded HttpServer mapping endpoints and decoding query parameters.</a:t>
            </a:r>
          </a:p>
        </p:txBody>
      </p:sp>
      <p:sp>
        <p:nvSpPr>
          <p:cNvPr id="8" name="Rounded Rectangle 7"/>
          <p:cNvSpPr/>
          <p:nvPr/>
        </p:nvSpPr>
        <p:spPr>
          <a:xfrm>
            <a:off x="62179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3. Service Logic</a:t>
            </a:r>
          </a:p>
          <a:p>
            <a:pPr>
              <a:defRPr sz="1400">
                <a:solidFill>
                  <a:srgbClr val="F3F4F6"/>
                </a:solidFill>
                <a:latin typeface="Segoe UI"/>
              </a:defRPr>
            </a:pPr>
            <a:r>
              <a:t>NLP AI processing, anomaly validations, and workforce simulators.</a:t>
            </a:r>
          </a:p>
        </p:txBody>
      </p:sp>
      <p:sp>
        <p:nvSpPr>
          <p:cNvPr id="10" name="Rounded Rectangle 9"/>
          <p:cNvSpPr/>
          <p:nvPr/>
        </p:nvSpPr>
        <p:spPr>
          <a:xfrm>
            <a:off x="89611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4. DAO &amp; In-Memory DB</a:t>
            </a:r>
          </a:p>
          <a:p>
            <a:pPr>
              <a:defRPr sz="1400">
                <a:solidFill>
                  <a:srgbClr val="F3F4F6"/>
                </a:solidFill>
                <a:latin typeface="Segoe UI"/>
              </a:defRPr>
            </a:pPr>
            <a:r>
              <a:t>Prepared statements writing directly to keep-alive H2 databases.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Unified Database Entity Schema</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Identity &amp; Access</a:t>
            </a:r>
          </a:p>
          <a:p>
            <a:pPr>
              <a:spcAft>
                <a:spcPts val="1000"/>
              </a:spcAft>
              <a:defRPr sz="1400">
                <a:solidFill>
                  <a:srgbClr val="F3F4F6"/>
                </a:solidFill>
                <a:latin typeface="Segoe UI"/>
              </a:defRPr>
            </a:pPr>
            <a:r>
              <a:t>• users (Credential, hashes)</a:t>
            </a:r>
          </a:p>
          <a:p>
            <a:pPr>
              <a:spcAft>
                <a:spcPts val="1000"/>
              </a:spcAft>
              <a:defRPr sz="1400">
                <a:solidFill>
                  <a:srgbClr val="F3F4F6"/>
                </a:solidFill>
                <a:latin typeface="Segoe UI"/>
              </a:defRPr>
            </a:pPr>
            <a:r>
              <a:t>• roles (ADMIN, HR, EMPLOYEE)</a:t>
            </a:r>
          </a:p>
          <a:p>
            <a:pPr>
              <a:spcAft>
                <a:spcPts val="1000"/>
              </a:spcAft>
              <a:defRPr sz="1400">
                <a:solidFill>
                  <a:srgbClr val="F3F4F6"/>
                </a:solidFill>
                <a:latin typeface="Segoe UI"/>
              </a:defRPr>
            </a:pPr>
            <a:r>
              <a:t>• audit_logs (Actions timeline)</a:t>
            </a:r>
          </a:p>
        </p:txBody>
      </p:sp>
      <p:sp>
        <p:nvSpPr>
          <p:cNvPr id="6" name="Rounded Rectangle 5"/>
          <p:cNvSpPr/>
          <p:nvPr/>
        </p:nvSpPr>
        <p:spPr>
          <a:xfrm>
            <a:off x="34747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Employee Directory</a:t>
            </a:r>
          </a:p>
          <a:p>
            <a:pPr>
              <a:spcAft>
                <a:spcPts val="1000"/>
              </a:spcAft>
              <a:defRPr sz="1400">
                <a:solidFill>
                  <a:srgbClr val="F3F4F6"/>
                </a:solidFill>
                <a:latin typeface="Segoe UI"/>
              </a:defRPr>
            </a:pPr>
            <a:r>
              <a:t>• employees (Roster record)</a:t>
            </a:r>
          </a:p>
          <a:p>
            <a:pPr>
              <a:spcAft>
                <a:spcPts val="1000"/>
              </a:spcAft>
              <a:defRPr sz="1400">
                <a:solidFill>
                  <a:srgbClr val="F3F4F6"/>
                </a:solidFill>
                <a:latin typeface="Segoe UI"/>
              </a:defRPr>
            </a:pPr>
            <a:r>
              <a:t>• departments (Reporting structures)</a:t>
            </a:r>
          </a:p>
          <a:p>
            <a:pPr>
              <a:spcAft>
                <a:spcPts val="1000"/>
              </a:spcAft>
              <a:defRPr sz="1400">
                <a:solidFill>
                  <a:srgbClr val="F3F4F6"/>
                </a:solidFill>
                <a:latin typeface="Segoe UI"/>
              </a:defRPr>
            </a:pPr>
            <a:r>
              <a:t>• projects (Task allocations)</a:t>
            </a:r>
          </a:p>
        </p:txBody>
      </p:sp>
      <p:sp>
        <p:nvSpPr>
          <p:cNvPr id="8" name="Rounded Rectangle 7"/>
          <p:cNvSpPr/>
          <p:nvPr/>
        </p:nvSpPr>
        <p:spPr>
          <a:xfrm>
            <a:off x="62179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Performance &amp; Tasks</a:t>
            </a:r>
          </a:p>
          <a:p>
            <a:pPr>
              <a:spcAft>
                <a:spcPts val="1000"/>
              </a:spcAft>
              <a:defRPr sz="1400">
                <a:solidFill>
                  <a:srgbClr val="F3F4F6"/>
                </a:solidFill>
                <a:latin typeface="Segoe UI"/>
              </a:defRPr>
            </a:pPr>
            <a:r>
              <a:t>• attendance (Daily logs)</a:t>
            </a:r>
          </a:p>
          <a:p>
            <a:pPr>
              <a:spcAft>
                <a:spcPts val="1000"/>
              </a:spcAft>
              <a:defRPr sz="1400">
                <a:solidFill>
                  <a:srgbClr val="F3F4F6"/>
                </a:solidFill>
                <a:latin typeface="Segoe UI"/>
              </a:defRPr>
            </a:pPr>
            <a:r>
              <a:t>• leave_requests (Vacations)</a:t>
            </a:r>
          </a:p>
          <a:p>
            <a:pPr>
              <a:spcAft>
                <a:spcPts val="1000"/>
              </a:spcAft>
              <a:defRPr sz="1400">
                <a:solidFill>
                  <a:srgbClr val="F3F4F6"/>
                </a:solidFill>
                <a:latin typeface="Segoe UI"/>
              </a:defRPr>
            </a:pPr>
            <a:r>
              <a:t>• performance (Reviews, ratings)</a:t>
            </a:r>
          </a:p>
        </p:txBody>
      </p:sp>
      <p:sp>
        <p:nvSpPr>
          <p:cNvPr id="10" name="Rounded Rectangle 9"/>
          <p:cNvSpPr/>
          <p:nvPr/>
        </p:nvSpPr>
        <p:spPr>
          <a:xfrm>
            <a:off x="89611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Financials &amp; Ledger</a:t>
            </a:r>
          </a:p>
          <a:p>
            <a:pPr>
              <a:spcAft>
                <a:spcPts val="1000"/>
              </a:spcAft>
              <a:defRPr sz="1400">
                <a:solidFill>
                  <a:srgbClr val="F3F4F6"/>
                </a:solidFill>
                <a:latin typeface="Segoe UI"/>
              </a:defRPr>
            </a:pPr>
            <a:r>
              <a:t>• payroll (Monthly components)</a:t>
            </a:r>
          </a:p>
          <a:p>
            <a:pPr>
              <a:spcAft>
                <a:spcPts val="1000"/>
              </a:spcAft>
              <a:defRPr sz="1400">
                <a:solidFill>
                  <a:srgbClr val="F3F4F6"/>
                </a:solidFill>
                <a:latin typeface="Segoe UI"/>
              </a:defRPr>
            </a:pPr>
            <a:r>
              <a:t>• tax_records (Regime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Handcrafted Algorithmic Implementations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192024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3017520" cy="1554480"/>
          </a:xfrm>
          <a:prstGeom prst="rect">
            <a:avLst/>
          </a:prstGeom>
          <a:noFill/>
        </p:spPr>
        <p:txBody>
          <a:bodyPr wrap="square">
            <a:spAutoFit/>
          </a:bodyPr>
          <a:lstStyle/>
          <a:p>
            <a:pPr>
              <a:spcAft>
                <a:spcPts val="1000"/>
              </a:spcAft>
              <a:defRPr b="1" sz="1600">
                <a:solidFill>
                  <a:srgbClr val="6366F1"/>
                </a:solidFill>
                <a:latin typeface="Segoe UI"/>
              </a:defRPr>
            </a:pPr>
            <a:r>
              <a:t>Trie Autocomplete</a:t>
            </a:r>
          </a:p>
          <a:p>
            <a:pPr>
              <a:defRPr sz="1300">
                <a:solidFill>
                  <a:srgbClr val="F3F4F6"/>
                </a:solidFill>
                <a:latin typeface="Segoe UI"/>
              </a:defRPr>
            </a:pPr>
            <a:r>
              <a:t>Facilitates instant prefix search for employee names inside dashboard query inputs.</a:t>
            </a:r>
          </a:p>
        </p:txBody>
      </p:sp>
      <p:sp>
        <p:nvSpPr>
          <p:cNvPr id="6" name="Rounded Rectangle 5"/>
          <p:cNvSpPr/>
          <p:nvPr/>
        </p:nvSpPr>
        <p:spPr>
          <a:xfrm>
            <a:off x="4297680" y="1645920"/>
            <a:ext cx="3291840" cy="192024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828800"/>
            <a:ext cx="3017520" cy="1554480"/>
          </a:xfrm>
          <a:prstGeom prst="rect">
            <a:avLst/>
          </a:prstGeom>
          <a:noFill/>
        </p:spPr>
        <p:txBody>
          <a:bodyPr wrap="square">
            <a:spAutoFit/>
          </a:bodyPr>
          <a:lstStyle/>
          <a:p>
            <a:pPr>
              <a:spcAft>
                <a:spcPts val="1000"/>
              </a:spcAft>
              <a:defRPr b="1" sz="1600">
                <a:solidFill>
                  <a:srgbClr val="14B8A6"/>
                </a:solidFill>
                <a:latin typeface="Segoe UI"/>
              </a:defRPr>
            </a:pPr>
            <a:r>
              <a:t>OrgGraph Structure</a:t>
            </a:r>
          </a:p>
          <a:p>
            <a:pPr>
              <a:defRPr sz="1300">
                <a:solidFill>
                  <a:srgbClr val="F3F4F6"/>
                </a:solidFill>
                <a:latin typeface="Segoe UI"/>
              </a:defRPr>
            </a:pPr>
            <a:r>
              <a:t>Hierarchical directed tree connecting employees to managers with cycle-detection checking.</a:t>
            </a:r>
          </a:p>
        </p:txBody>
      </p:sp>
      <p:sp>
        <p:nvSpPr>
          <p:cNvPr id="8" name="Rounded Rectangle 7"/>
          <p:cNvSpPr/>
          <p:nvPr/>
        </p:nvSpPr>
        <p:spPr>
          <a:xfrm>
            <a:off x="7863840" y="1645920"/>
            <a:ext cx="3291840" cy="192024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828800"/>
            <a:ext cx="3017520" cy="1554480"/>
          </a:xfrm>
          <a:prstGeom prst="rect">
            <a:avLst/>
          </a:prstGeom>
          <a:noFill/>
        </p:spPr>
        <p:txBody>
          <a:bodyPr wrap="square">
            <a:spAutoFit/>
          </a:bodyPr>
          <a:lstStyle/>
          <a:p>
            <a:pPr>
              <a:spcAft>
                <a:spcPts val="1000"/>
              </a:spcAft>
              <a:defRPr b="1" sz="1600">
                <a:solidFill>
                  <a:srgbClr val="14B8A6"/>
                </a:solidFill>
                <a:latin typeface="Segoe UI"/>
              </a:defRPr>
            </a:pPr>
            <a:r>
              <a:t>O(1) LRU Cache</a:t>
            </a:r>
          </a:p>
          <a:p>
            <a:pPr>
              <a:defRPr sz="1300">
                <a:solidFill>
                  <a:srgbClr val="F3F4F6"/>
                </a:solidFill>
                <a:latin typeface="Segoe UI"/>
              </a:defRPr>
            </a:pPr>
            <a:r>
              <a:t>Speeds up user profile queries by loading records from RAM, preventing H2 connections congestion.</a:t>
            </a:r>
          </a:p>
        </p:txBody>
      </p:sp>
      <p:sp>
        <p:nvSpPr>
          <p:cNvPr id="10" name="Rounded Rectangle 9"/>
          <p:cNvSpPr/>
          <p:nvPr/>
        </p:nvSpPr>
        <p:spPr>
          <a:xfrm>
            <a:off x="731520" y="3749039"/>
            <a:ext cx="3291840" cy="192024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31919"/>
            <a:ext cx="3017520" cy="1554480"/>
          </a:xfrm>
          <a:prstGeom prst="rect">
            <a:avLst/>
          </a:prstGeom>
          <a:noFill/>
        </p:spPr>
        <p:txBody>
          <a:bodyPr wrap="square">
            <a:spAutoFit/>
          </a:bodyPr>
          <a:lstStyle/>
          <a:p>
            <a:pPr>
              <a:spcAft>
                <a:spcPts val="1000"/>
              </a:spcAft>
              <a:defRPr b="1" sz="1600">
                <a:solidFill>
                  <a:srgbClr val="6366F1"/>
                </a:solidFill>
                <a:latin typeface="Segoe UI"/>
              </a:defRPr>
            </a:pPr>
            <a:r>
              <a:t>Segment Tree</a:t>
            </a:r>
          </a:p>
          <a:p>
            <a:pPr>
              <a:defRPr sz="1300">
                <a:solidFill>
                  <a:srgbClr val="F3F4F6"/>
                </a:solidFill>
                <a:latin typeface="Segoe UI"/>
              </a:defRPr>
            </a:pPr>
            <a:r>
              <a:t>Returns range aggregate metrics (max and sum salaries) across dynamic departments.</a:t>
            </a:r>
          </a:p>
        </p:txBody>
      </p:sp>
      <p:sp>
        <p:nvSpPr>
          <p:cNvPr id="12" name="Rounded Rectangle 11"/>
          <p:cNvSpPr/>
          <p:nvPr/>
        </p:nvSpPr>
        <p:spPr>
          <a:xfrm>
            <a:off x="4297680" y="3749039"/>
            <a:ext cx="3291840" cy="192024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3931919"/>
            <a:ext cx="3017520" cy="1554480"/>
          </a:xfrm>
          <a:prstGeom prst="rect">
            <a:avLst/>
          </a:prstGeom>
          <a:noFill/>
        </p:spPr>
        <p:txBody>
          <a:bodyPr wrap="square">
            <a:spAutoFit/>
          </a:bodyPr>
          <a:lstStyle/>
          <a:p>
            <a:pPr>
              <a:spcAft>
                <a:spcPts val="1000"/>
              </a:spcAft>
              <a:defRPr b="1" sz="1600">
                <a:solidFill>
                  <a:srgbClr val="14B8A6"/>
                </a:solidFill>
                <a:latin typeface="Segoe UI"/>
              </a:defRPr>
            </a:pPr>
            <a:r>
              <a:t>Sorter Engine</a:t>
            </a:r>
          </a:p>
          <a:p>
            <a:pPr>
              <a:defRPr sz="1300">
                <a:solidFill>
                  <a:srgbClr val="F3F4F6"/>
                </a:solidFill>
                <a:latin typeface="Segoe UI"/>
              </a:defRPr>
            </a:pPr>
            <a:r>
              <a:t>Optimized QuickSort and MergeSort routines sorting rosters dynamically by salary or 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Enterprise Design Patterns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698480" cy="86868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594360"/>
          </a:xfrm>
          <a:prstGeom prst="rect">
            <a:avLst/>
          </a:prstGeom>
          <a:noFill/>
        </p:spPr>
        <p:txBody>
          <a:bodyPr wrap="square">
            <a:spAutoFit/>
          </a:bodyPr>
          <a:lstStyle/>
          <a:p>
            <a:pPr>
              <a:defRPr b="1" sz="1600">
                <a:solidFill>
                  <a:srgbClr val="6366F1"/>
                </a:solidFill>
                <a:latin typeface="Segoe UI"/>
              </a:defRPr>
            </a:pPr>
            <a:r>
              <a:t>State Pattern: </a:t>
            </a:r>
            <a:r>
              <a:rPr b="0" sz="1400">
                <a:solidFill>
                  <a:srgbClr val="F3F4F6"/>
                </a:solidFill>
              </a:rPr>
              <a:t>Regulates leave requests workflow (Pending, Approved, Rejected) preventing invalid state changes.</a:t>
            </a:r>
          </a:p>
        </p:txBody>
      </p:sp>
      <p:sp>
        <p:nvSpPr>
          <p:cNvPr id="6" name="Rounded Rectangle 5"/>
          <p:cNvSpPr/>
          <p:nvPr/>
        </p:nvSpPr>
        <p:spPr>
          <a:xfrm>
            <a:off x="731520" y="2423160"/>
            <a:ext cx="10698480" cy="86868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10332720" cy="594360"/>
          </a:xfrm>
          <a:prstGeom prst="rect">
            <a:avLst/>
          </a:prstGeom>
          <a:noFill/>
        </p:spPr>
        <p:txBody>
          <a:bodyPr wrap="square">
            <a:spAutoFit/>
          </a:bodyPr>
          <a:lstStyle/>
          <a:p>
            <a:pPr>
              <a:defRPr b="1" sz="1600">
                <a:solidFill>
                  <a:srgbClr val="14B8A6"/>
                </a:solidFill>
                <a:latin typeface="Segoe UI"/>
              </a:defRPr>
            </a:pPr>
            <a:r>
              <a:t>Command Pattern: </a:t>
            </a:r>
            <a:r>
              <a:rPr b="0" sz="1400">
                <a:solidFill>
                  <a:srgbClr val="F3F4F6"/>
                </a:solidFill>
              </a:rPr>
              <a:t>Wraps update execution (UpdateSalaryCommand). Features a full CommandStack supporting Undo operations.</a:t>
            </a:r>
          </a:p>
        </p:txBody>
      </p:sp>
      <p:sp>
        <p:nvSpPr>
          <p:cNvPr id="8" name="Rounded Rectangle 7"/>
          <p:cNvSpPr/>
          <p:nvPr/>
        </p:nvSpPr>
        <p:spPr>
          <a:xfrm>
            <a:off x="731520" y="3383280"/>
            <a:ext cx="10698480" cy="86868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20440"/>
            <a:ext cx="10332720" cy="594360"/>
          </a:xfrm>
          <a:prstGeom prst="rect">
            <a:avLst/>
          </a:prstGeom>
          <a:noFill/>
        </p:spPr>
        <p:txBody>
          <a:bodyPr wrap="square">
            <a:spAutoFit/>
          </a:bodyPr>
          <a:lstStyle/>
          <a:p>
            <a:pPr>
              <a:defRPr b="1" sz="1600">
                <a:solidFill>
                  <a:srgbClr val="6366F1"/>
                </a:solidFill>
                <a:latin typeface="Segoe UI"/>
              </a:defRPr>
            </a:pPr>
            <a:r>
              <a:t>Strategy Pattern: </a:t>
            </a:r>
            <a:r>
              <a:rPr b="0" sz="1400">
                <a:solidFill>
                  <a:srgbClr val="F3F4F6"/>
                </a:solidFill>
              </a:rPr>
              <a:t>Selectable equations for bonus rewards and tax calculations (Old vs New tax regime options).</a:t>
            </a:r>
          </a:p>
        </p:txBody>
      </p:sp>
      <p:sp>
        <p:nvSpPr>
          <p:cNvPr id="10" name="Rounded Rectangle 9"/>
          <p:cNvSpPr/>
          <p:nvPr/>
        </p:nvSpPr>
        <p:spPr>
          <a:xfrm>
            <a:off x="731520" y="4343400"/>
            <a:ext cx="10698480" cy="86868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80560"/>
            <a:ext cx="10332720" cy="594360"/>
          </a:xfrm>
          <a:prstGeom prst="rect">
            <a:avLst/>
          </a:prstGeom>
          <a:noFill/>
        </p:spPr>
        <p:txBody>
          <a:bodyPr wrap="square">
            <a:spAutoFit/>
          </a:bodyPr>
          <a:lstStyle/>
          <a:p>
            <a:pPr>
              <a:defRPr b="1" sz="1600">
                <a:solidFill>
                  <a:srgbClr val="14B8A6"/>
                </a:solidFill>
                <a:latin typeface="Segoe UI"/>
              </a:defRPr>
            </a:pPr>
            <a:r>
              <a:t>Decorator Pattern: </a:t>
            </a:r>
            <a:r>
              <a:rPr b="0" sz="1400">
                <a:solidFill>
                  <a:srgbClr val="F3F4F6"/>
                </a:solidFill>
              </a:rPr>
              <a:t>Calculates net salary breakdown by stacking allowances (HRA, travel, medical) on top of base.</a:t>
            </a:r>
          </a:p>
        </p:txBody>
      </p:sp>
      <p:sp>
        <p:nvSpPr>
          <p:cNvPr id="12" name="Rounded Rectangle 11"/>
          <p:cNvSpPr/>
          <p:nvPr/>
        </p:nvSpPr>
        <p:spPr>
          <a:xfrm>
            <a:off x="731520" y="5303520"/>
            <a:ext cx="10698480" cy="86868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40680"/>
            <a:ext cx="10332720" cy="594360"/>
          </a:xfrm>
          <a:prstGeom prst="rect">
            <a:avLst/>
          </a:prstGeom>
          <a:noFill/>
        </p:spPr>
        <p:txBody>
          <a:bodyPr wrap="square">
            <a:spAutoFit/>
          </a:bodyPr>
          <a:lstStyle/>
          <a:p>
            <a:pPr>
              <a:defRPr b="1" sz="1600">
                <a:solidFill>
                  <a:srgbClr val="6366F1"/>
                </a:solidFill>
                <a:latin typeface="Segoe UI"/>
              </a:defRPr>
            </a:pPr>
            <a:r>
              <a:t>Observer, Template, Factory: </a:t>
            </a:r>
            <a:r>
              <a:rPr b="0" sz="1400">
                <a:solidFill>
                  <a:srgbClr val="F3F4F6"/>
                </a:solidFill>
              </a:rPr>
              <a:t>observer notifications system (Email, SMS alerts), ReportGenerator templates, and factory creation classes.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Fine-Grained Dynamic RBAC Views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2103120" cy="3566160"/>
          </a:xfrm>
          <a:prstGeom prst="rect">
            <a:avLst/>
          </a:prstGeom>
          <a:noFill/>
        </p:spPr>
        <p:txBody>
          <a:bodyPr wrap="square">
            <a:spAutoFit/>
          </a:bodyPr>
          <a:lstStyle/>
          <a:p>
            <a:pPr>
              <a:defRPr b="1" sz="2000">
                <a:solidFill>
                  <a:srgbClr val="14B8A6"/>
                </a:solidFill>
                <a:latin typeface="Segoe UI"/>
              </a:defRPr>
            </a:pPr>
            <a:r>
              <a:t>EMPLOYEE</a:t>
            </a:r>
          </a:p>
          <a:p>
            <a:pPr>
              <a:spcAft>
                <a:spcPts val="2000"/>
              </a:spcAft>
              <a:defRPr b="1" sz="1300">
                <a:solidFill>
                  <a:srgbClr val="F3F4F6"/>
                </a:solidFill>
                <a:latin typeface="Segoe UI"/>
              </a:defRPr>
            </a:pPr>
            <a:r>
              <a:t>Personal Profile &amp; History</a:t>
            </a:r>
          </a:p>
          <a:p>
            <a:pPr>
              <a:defRPr sz="1300">
                <a:solidFill>
                  <a:srgbClr val="9CA3AF"/>
                </a:solidFill>
                <a:latin typeface="Segoe UI"/>
              </a:defRPr>
            </a:pPr>
            <a:r>
              <a:t>Shows base salary details, bank accounts, and personal leave submission panels. Hides Roster &amp; Fraud checks.</a:t>
            </a:r>
          </a:p>
        </p:txBody>
      </p:sp>
      <p:sp>
        <p:nvSpPr>
          <p:cNvPr id="6" name="Rounded Rectangle 5"/>
          <p:cNvSpPr/>
          <p:nvPr/>
        </p:nvSpPr>
        <p:spPr>
          <a:xfrm>
            <a:off x="34747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03120" cy="3566160"/>
          </a:xfrm>
          <a:prstGeom prst="rect">
            <a:avLst/>
          </a:prstGeom>
          <a:noFill/>
        </p:spPr>
        <p:txBody>
          <a:bodyPr wrap="square">
            <a:spAutoFit/>
          </a:bodyPr>
          <a:lstStyle/>
          <a:p>
            <a:pPr>
              <a:defRPr b="1" sz="2000">
                <a:solidFill>
                  <a:srgbClr val="6366F1"/>
                </a:solidFill>
                <a:latin typeface="Segoe UI"/>
              </a:defRPr>
            </a:pPr>
            <a:r>
              <a:t>HR MANAGER</a:t>
            </a:r>
          </a:p>
          <a:p>
            <a:pPr>
              <a:spcAft>
                <a:spcPts val="2000"/>
              </a:spcAft>
              <a:defRPr b="1" sz="1300">
                <a:solidFill>
                  <a:srgbClr val="F3F4F6"/>
                </a:solidFill>
                <a:latin typeface="Segoe UI"/>
              </a:defRPr>
            </a:pPr>
            <a:r>
              <a:t>Employee Roster Control</a:t>
            </a:r>
          </a:p>
          <a:p>
            <a:pPr>
              <a:defRPr sz="1300">
                <a:solidFill>
                  <a:srgbClr val="9CA3AF"/>
                </a:solidFill>
                <a:latin typeface="Segoe UI"/>
              </a:defRPr>
            </a:pPr>
            <a:r>
              <a:t>Roster lookup page, employee registration forms, and leave approvals workflow.</a:t>
            </a:r>
          </a:p>
        </p:txBody>
      </p:sp>
      <p:sp>
        <p:nvSpPr>
          <p:cNvPr id="8" name="Rounded Rectangle 7"/>
          <p:cNvSpPr/>
          <p:nvPr/>
        </p:nvSpPr>
        <p:spPr>
          <a:xfrm>
            <a:off x="62179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920240"/>
            <a:ext cx="2103120" cy="3566160"/>
          </a:xfrm>
          <a:prstGeom prst="rect">
            <a:avLst/>
          </a:prstGeom>
          <a:noFill/>
        </p:spPr>
        <p:txBody>
          <a:bodyPr wrap="square">
            <a:spAutoFit/>
          </a:bodyPr>
          <a:lstStyle/>
          <a:p>
            <a:pPr>
              <a:defRPr b="1" sz="2000">
                <a:solidFill>
                  <a:srgbClr val="14B8A6"/>
                </a:solidFill>
                <a:latin typeface="Segoe UI"/>
              </a:defRPr>
            </a:pPr>
            <a:r>
              <a:t>FINANCE</a:t>
            </a:r>
          </a:p>
          <a:p>
            <a:pPr>
              <a:spcAft>
                <a:spcPts val="2000"/>
              </a:spcAft>
              <a:defRPr b="1" sz="1300">
                <a:solidFill>
                  <a:srgbClr val="F3F4F6"/>
                </a:solidFill>
                <a:latin typeface="Segoe UI"/>
              </a:defRPr>
            </a:pPr>
            <a:r>
              <a:t>Costing Simulations</a:t>
            </a:r>
          </a:p>
          <a:p>
            <a:pPr>
              <a:defRPr sz="1300">
                <a:solidFill>
                  <a:srgbClr val="9CA3AF"/>
                </a:solidFill>
                <a:latin typeface="Segoe UI"/>
              </a:defRPr>
            </a:pPr>
            <a:r>
              <a:t>Access to salary forecast modeler, tax calculations, and KPI-based promotion prioritisation curves.</a:t>
            </a:r>
          </a:p>
        </p:txBody>
      </p:sp>
      <p:sp>
        <p:nvSpPr>
          <p:cNvPr id="10" name="Rounded Rectangle 9"/>
          <p:cNvSpPr/>
          <p:nvPr/>
        </p:nvSpPr>
        <p:spPr>
          <a:xfrm>
            <a:off x="89611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920240"/>
            <a:ext cx="2103120" cy="3566160"/>
          </a:xfrm>
          <a:prstGeom prst="rect">
            <a:avLst/>
          </a:prstGeom>
          <a:noFill/>
        </p:spPr>
        <p:txBody>
          <a:bodyPr wrap="square">
            <a:spAutoFit/>
          </a:bodyPr>
          <a:lstStyle/>
          <a:p>
            <a:pPr>
              <a:defRPr b="1" sz="2000">
                <a:solidFill>
                  <a:srgbClr val="6366F1"/>
                </a:solidFill>
                <a:latin typeface="Segoe UI"/>
              </a:defRPr>
            </a:pPr>
            <a:r>
              <a:t>ADMINISTRATOR</a:t>
            </a:r>
          </a:p>
          <a:p>
            <a:pPr>
              <a:spcAft>
                <a:spcPts val="2000"/>
              </a:spcAft>
              <a:defRPr b="1" sz="1300">
                <a:solidFill>
                  <a:srgbClr val="F3F4F6"/>
                </a:solidFill>
                <a:latin typeface="Segoe UI"/>
              </a:defRPr>
            </a:pPr>
            <a:r>
              <a:t>Auditing &amp; Security Scan</a:t>
            </a:r>
          </a:p>
          <a:p>
            <a:pPr>
              <a:defRPr sz="1300">
                <a:solidFill>
                  <a:srgbClr val="9CA3AF"/>
                </a:solidFill>
                <a:latin typeface="Segoe UI"/>
              </a:defRPr>
            </a:pPr>
            <a:r>
              <a:t>Full authorization over global database values, audit logs review, and anomaly scans.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AI Assistant &amp; Advanced Analytics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303520" cy="4389120"/>
          </a:xfrm>
          <a:prstGeom prst="rect">
            <a:avLst/>
          </a:prstGeom>
          <a:noFill/>
        </p:spPr>
        <p:txBody>
          <a:bodyPr wrap="square">
            <a:spAutoFit/>
          </a:bodyPr>
          <a:lstStyle/>
          <a:p>
            <a:pPr>
              <a:spcAft>
                <a:spcPts val="2000"/>
              </a:spcAft>
              <a:defRPr b="1" sz="1800">
                <a:solidFill>
                  <a:srgbClr val="6366F1"/>
                </a:solidFill>
                <a:latin typeface="Segoe UI"/>
              </a:defRPr>
            </a:pPr>
            <a:r>
              <a:t>• NLP Chatbot Panel: </a:t>
            </a:r>
            <a:r>
              <a:rPr b="0" sz="1500">
                <a:solidFill>
                  <a:srgbClr val="F3F4F6"/>
                </a:solidFill>
              </a:rPr>
              <a:t>Enables conversational queries against database thresholds (e.g. counting roster sizes, reporting salary averages).</a:t>
            </a:r>
          </a:p>
          <a:p>
            <a:pPr>
              <a:spcAft>
                <a:spcPts val="2000"/>
              </a:spcAft>
              <a:defRPr b="1" sz="1800">
                <a:solidFill>
                  <a:srgbClr val="6366F1"/>
                </a:solidFill>
                <a:latin typeface="Segoe UI"/>
              </a:defRPr>
            </a:pPr>
            <a:r>
              <a:t>• Workforce Simulations: </a:t>
            </a:r>
            <a:r>
              <a:rPr b="0" sz="1500">
                <a:solidFill>
                  <a:srgbClr val="F3F4F6"/>
                </a:solidFill>
              </a:rPr>
              <a:t>Simulates monthly payroll budgets dynamically based on selectable tax regimes (Old vs New) and bonus structures.</a:t>
            </a:r>
          </a:p>
        </p:txBody>
      </p:sp>
      <p:sp>
        <p:nvSpPr>
          <p:cNvPr id="5" name="Rounded Rectangle 4"/>
          <p:cNvSpPr/>
          <p:nvPr/>
        </p:nvSpPr>
        <p:spPr>
          <a:xfrm>
            <a:off x="6400800" y="1645920"/>
            <a:ext cx="502920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920240"/>
            <a:ext cx="4480560" cy="3566160"/>
          </a:xfrm>
          <a:prstGeom prst="rect">
            <a:avLst/>
          </a:prstGeom>
          <a:noFill/>
        </p:spPr>
        <p:txBody>
          <a:bodyPr wrap="square">
            <a:spAutoFit/>
          </a:bodyPr>
          <a:lstStyle/>
          <a:p>
            <a:pPr>
              <a:spcAft>
                <a:spcPts val="1500"/>
              </a:spcAft>
              <a:defRPr b="1" sz="1800">
                <a:solidFill>
                  <a:srgbClr val="14B8A6"/>
                </a:solidFill>
                <a:latin typeface="Segoe UI"/>
              </a:defRPr>
            </a:pPr>
            <a:r>
              <a:t>INTELLIGENT ANOMALY SCANS</a:t>
            </a:r>
          </a:p>
          <a:p>
            <a:pPr>
              <a:defRPr sz="1500">
                <a:solidFill>
                  <a:srgbClr val="F3F4F6"/>
                </a:solidFill>
                <a:latin typeface="Segoe UI"/>
              </a:defRPr>
            </a:pPr>
            <a:r>
              <a:t>Automated algorithms monitor employee data to flag:</a:t>
            </a:r>
            <a:br/>
            <a:br/>
            <a:r>
              <a:t>1. Duplicate Profiles: Checks email/name matching.</a:t>
            </a:r>
            <a:br/>
            <a:r>
              <a:t>2. Negative/Zero Salaries: Flags validation failures.</a:t>
            </a:r>
            <a:br/>
            <a:r>
              <a:t>3. Impossible Attendance: Checks if clock-out time precedes check-in.</a:t>
            </a:r>
            <a:br/>
            <a:r>
              <a:t>4. KPI Promotion recommendations: Sorts candidate priority lists by matching scores.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TextBox 1"/>
          <p:cNvSpPr txBox="1"/>
          <p:nvPr/>
        </p:nvSpPr>
        <p:spPr>
          <a:xfrm>
            <a:off x="731520" y="365760"/>
            <a:ext cx="10698480" cy="731520"/>
          </a:xfrm>
          <a:prstGeom prst="rect">
            <a:avLst/>
          </a:prstGeom>
          <a:noFill/>
        </p:spPr>
        <p:txBody>
          <a:bodyPr wrap="square" lIns="0" tIns="0" bIns="0" rIns="0">
            <a:spAutoFit/>
          </a:bodyPr>
          <a:lstStyle/>
          <a:p>
            <a:pPr>
              <a:defRPr sz="3200" b="1">
                <a:solidFill>
                  <a:srgbClr val="F3F4F6"/>
                </a:solidFill>
                <a:latin typeface="Segoe UI"/>
              </a:defRPr>
            </a:pPr>
            <a:r>
              <a:t>Compilation &amp; Verification Systems</a:t>
            </a:r>
          </a:p>
        </p:txBody>
      </p:sp>
      <p:sp>
        <p:nvSpPr>
          <p:cNvPr id="3" name="Rectangle 2"/>
          <p:cNvSpPr/>
          <p:nvPr/>
        </p:nvSpPr>
        <p:spPr>
          <a:xfrm>
            <a:off x="731520" y="1051560"/>
            <a:ext cx="228600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JUnit 5 Suite</a:t>
            </a:r>
          </a:p>
          <a:p>
            <a:pPr>
              <a:defRPr sz="1400">
                <a:solidFill>
                  <a:srgbClr val="F3F4F6"/>
                </a:solidFill>
                <a:latin typeface="Segoe UI"/>
              </a:defRPr>
            </a:pPr>
            <a:r>
              <a:t>10 unit tests validating cache allocations, trie search indices, and state triggers.</a:t>
            </a:r>
          </a:p>
        </p:txBody>
      </p:sp>
      <p:sp>
        <p:nvSpPr>
          <p:cNvPr id="6" name="Rounded Rectangle 5"/>
          <p:cNvSpPr/>
          <p:nvPr/>
        </p:nvSpPr>
        <p:spPr>
          <a:xfrm>
            <a:off x="34747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build.ps1 Script</a:t>
            </a:r>
          </a:p>
          <a:p>
            <a:pPr>
              <a:defRPr sz="1400">
                <a:solidFill>
                  <a:srgbClr val="F3F4F6"/>
                </a:solidFill>
                <a:latin typeface="Segoe UI"/>
              </a:defRPr>
            </a:pPr>
            <a:r>
              <a:t>Downloads Maven locally if needed, sets Java JDK environment variables, and clean compiles code.</a:t>
            </a:r>
          </a:p>
        </p:txBody>
      </p:sp>
      <p:sp>
        <p:nvSpPr>
          <p:cNvPr id="8" name="Rounded Rectangle 7"/>
          <p:cNvSpPr/>
          <p:nvPr/>
        </p:nvSpPr>
        <p:spPr>
          <a:xfrm>
            <a:off x="6217920" y="1645920"/>
            <a:ext cx="2377440" cy="4114800"/>
          </a:xfrm>
          <a:prstGeom prst="roundRect">
            <a:avLst/>
          </a:prstGeom>
          <a:solidFill>
            <a:srgbClr val="1C212E"/>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920240"/>
            <a:ext cx="2103120" cy="3566160"/>
          </a:xfrm>
          <a:prstGeom prst="rect">
            <a:avLst/>
          </a:prstGeom>
          <a:noFill/>
        </p:spPr>
        <p:txBody>
          <a:bodyPr wrap="square">
            <a:spAutoFit/>
          </a:bodyPr>
          <a:lstStyle/>
          <a:p>
            <a:pPr>
              <a:spcAft>
                <a:spcPts val="2000"/>
              </a:spcAft>
              <a:defRPr b="1" sz="1800">
                <a:solidFill>
                  <a:srgbClr val="14B8A6"/>
                </a:solidFill>
                <a:latin typeface="Segoe UI"/>
              </a:defRPr>
            </a:pPr>
            <a:r>
              <a:t>GitHub Versioning</a:t>
            </a:r>
          </a:p>
          <a:p>
            <a:pPr>
              <a:defRPr sz="1400">
                <a:solidFill>
                  <a:srgbClr val="F3F4F6"/>
                </a:solidFill>
                <a:latin typeface="Segoe UI"/>
              </a:defRPr>
            </a:pPr>
            <a:r>
              <a:t>Committed and pushed to repository. Verified commit author metadata set to Vishesh Tomar.</a:t>
            </a:r>
          </a:p>
        </p:txBody>
      </p:sp>
      <p:sp>
        <p:nvSpPr>
          <p:cNvPr id="10" name="Rounded Rectangle 9"/>
          <p:cNvSpPr/>
          <p:nvPr/>
        </p:nvSpPr>
        <p:spPr>
          <a:xfrm>
            <a:off x="8961120" y="1645920"/>
            <a:ext cx="2377440" cy="4114800"/>
          </a:xfrm>
          <a:prstGeom prst="roundRect">
            <a:avLst/>
          </a:prstGeom>
          <a:solidFill>
            <a:srgbClr val="1C212E"/>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920240"/>
            <a:ext cx="2103120" cy="3566160"/>
          </a:xfrm>
          <a:prstGeom prst="rect">
            <a:avLst/>
          </a:prstGeom>
          <a:noFill/>
        </p:spPr>
        <p:txBody>
          <a:bodyPr wrap="square">
            <a:spAutoFit/>
          </a:bodyPr>
          <a:lstStyle/>
          <a:p>
            <a:pPr>
              <a:spcAft>
                <a:spcPts val="2000"/>
              </a:spcAft>
              <a:defRPr b="1" sz="1800">
                <a:solidFill>
                  <a:srgbClr val="6366F1"/>
                </a:solidFill>
                <a:latin typeface="Segoe UI"/>
              </a:defRPr>
            </a:pPr>
            <a:r>
              <a:t>Background Server</a:t>
            </a:r>
          </a:p>
          <a:p>
            <a:pPr>
              <a:defRPr sz="1400">
                <a:solidFill>
                  <a:srgbClr val="F3F4F6"/>
                </a:solidFill>
                <a:latin typeface="Segoe UI"/>
              </a:defRPr>
            </a:pPr>
            <a:r>
              <a:t>API handler routes and webpage server verified successfully on local HTTP processes on port 8080.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