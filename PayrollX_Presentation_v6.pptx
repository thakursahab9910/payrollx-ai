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73152" cy="3200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6400" b="1">
                <a:solidFill>
                  <a:srgbClr val="FFFFFF"/>
                </a:solidFill>
                <a:latin typeface="Segoe UI"/>
              </a:defRPr>
            </a:pPr>
            <a:r>
              <a:t>PAYROLLX AI</a:t>
            </a:r>
          </a:p>
          <a:p>
            <a:pPr>
              <a:spcAft>
                <a:spcPts val="3500"/>
              </a:spcAft>
              <a:defRPr sz="2400">
                <a:solidFill>
                  <a:srgbClr val="94A3B8"/>
                </a:solidFill>
                <a:latin typeface="Segoe UI"/>
              </a:defRPr>
            </a:pPr>
            <a:r>
              <a:t>How Java, SQL, and DSA Power Our HR Portal</a:t>
            </a:r>
          </a:p>
          <a:p>
            <a:pPr>
              <a:defRPr sz="1200" b="1">
                <a:solidFill>
                  <a:srgbClr val="14B8A6"/>
                </a:solidFill>
                <a:latin typeface="Segoe UI"/>
              </a:defRPr>
            </a:pPr>
            <a:r>
              <a:t>SIMPLE TECH BREAKDOWN  |  VISHESH TOMAR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What is PayrollX AI &amp; What Does It Do?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0"/>
              </a:spcAft>
              <a:defRPr sz="2800" b="1">
                <a:solidFill>
                  <a:srgbClr val="14B8A6"/>
                </a:solidFill>
                <a:latin typeface="Segoe UI"/>
              </a:defRPr>
            </a:pPr>
            <a:r>
              <a:t>An intelligent, lightweight HR and payroll portal.</a:t>
            </a:r>
          </a:p>
          <a:p>
            <a:pPr>
              <a:lnSpc>
                <a:spcPct val="130000"/>
              </a:lnSpc>
              <a:defRPr sz="1500">
                <a:solidFill>
                  <a:srgbClr val="94A3B8"/>
                </a:solidFill>
                <a:latin typeface="Segoe UI"/>
              </a:defRPr>
            </a:pPr>
            <a:r>
              <a:t>PayrollX AI is a secure intranet web portal designed to manage employee profiles, automate salary payouts, process leave requests, and scan transaction ledgers for accounting fraud.</a:t>
            </a:r>
            <a:br/>
            <a:br/>
            <a:r>
              <a:t>It is built entirely from scratch with native components to maximize speed and bypass heavy, memory-bloated frameworks.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92024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1800">
                <a:solidFill>
                  <a:srgbClr val="FFFFFF"/>
                </a:solidFill>
                <a:latin typeface="Segoe UI"/>
              </a:defRPr>
            </a:pPr>
            <a:r>
              <a:t>CORE FUNCTIONAL FEATURES</a:t>
            </a:r>
          </a:p>
          <a:p>
            <a:pPr>
              <a:spcAft>
                <a:spcPts val="800"/>
              </a:spcAft>
              <a:defRPr b="1" sz="1400">
                <a:solidFill>
                  <a:srgbClr val="14B8A6"/>
                </a:solidFill>
              </a:defRPr>
            </a:pPr>
            <a:r>
              <a:t>•  Employee Roster: </a:t>
            </a:r>
            <a:r>
              <a:rPr b="0" sz="1300">
                <a:solidFill>
                  <a:srgbClr val="94A3B8"/>
                </a:solidFill>
              </a:rPr>
              <a:t>Registers credentials, contact details, and managers.</a:t>
            </a:r>
          </a:p>
          <a:p>
            <a:pPr>
              <a:spcAft>
                <a:spcPts val="800"/>
              </a:spcAft>
              <a:defRPr b="1" sz="1400">
                <a:solidFill>
                  <a:srgbClr val="14B8A6"/>
                </a:solidFill>
              </a:defRPr>
            </a:pPr>
            <a:r>
              <a:t>•  Leaves Approval: </a:t>
            </a:r>
            <a:r>
              <a:rPr b="0" sz="1300">
                <a:solidFill>
                  <a:srgbClr val="94A3B8"/>
                </a:solidFill>
              </a:rPr>
              <a:t>Tracks sick leave and vacations via approval workflows.</a:t>
            </a:r>
          </a:p>
          <a:p>
            <a:pPr>
              <a:spcAft>
                <a:spcPts val="800"/>
              </a:spcAft>
              <a:defRPr b="1" sz="1400">
                <a:solidFill>
                  <a:srgbClr val="14B8A6"/>
                </a:solidFill>
              </a:defRPr>
            </a:pPr>
            <a:r>
              <a:t>•  Salary Calculator: </a:t>
            </a:r>
            <a:r>
              <a:rPr b="0" sz="1300">
                <a:solidFill>
                  <a:srgbClr val="94A3B8"/>
                </a:solidFill>
              </a:rPr>
              <a:t>Stacks HRA, allowances, and regimes (Old vs New tax).</a:t>
            </a:r>
          </a:p>
          <a:p>
            <a:pPr>
              <a:spcAft>
                <a:spcPts val="800"/>
              </a:spcAft>
              <a:defRPr b="1" sz="1400">
                <a:solidFill>
                  <a:srgbClr val="14B8A6"/>
                </a:solidFill>
              </a:defRPr>
            </a:pPr>
            <a:r>
              <a:t>•  Fraud Scan Check: </a:t>
            </a:r>
            <a:r>
              <a:rPr b="0" sz="1300">
                <a:solidFill>
                  <a:srgbClr val="94A3B8"/>
                </a:solidFill>
              </a:rPr>
              <a:t>Identifies duplicate paychecks and impossible overtime.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JAVA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Java: Hosting Backend APIs &amp;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657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14B8A6"/>
                </a:solidFill>
                <a:latin typeface="Segoe UI"/>
              </a:defRPr>
            </a:pPr>
            <a:r>
              <a:t>Zero</a:t>
            </a:r>
          </a:p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Framework Overhead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645920"/>
            <a:ext cx="6766560" cy="4114800"/>
          </a:xfrm>
          <a:prstGeom prst="roundRect">
            <a:avLst/>
          </a:prstGeom>
          <a:solidFill>
            <a:srgbClr val="1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920240"/>
            <a:ext cx="6217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1800">
                <a:solidFill>
                  <a:srgbClr val="14B8A6"/>
                </a:solidFill>
                <a:latin typeface="Segoe UI"/>
              </a:defRPr>
            </a:pPr>
            <a:r>
              <a:t>WHAT JAVA IS USED FOR IN THIS PROJECT</a:t>
            </a:r>
          </a:p>
          <a:p>
            <a:pPr>
              <a:spcAft>
                <a:spcPts val="1000"/>
              </a:spcAft>
              <a:defRPr b="1" sz="1400">
                <a:solidFill>
                  <a:srgbClr val="FFFFFF"/>
                </a:solidFill>
              </a:defRPr>
            </a:pPr>
            <a:r>
              <a:t>•  API Server: </a:t>
            </a:r>
            <a:r>
              <a:rPr b="0" sz="1300">
                <a:solidFill>
                  <a:srgbClr val="94A3B8"/>
                </a:solidFill>
              </a:rPr>
              <a:t>Spawns a native com.sun.net.httpserver.HttpServer in standard Java 17 to host all endpoints on port 8080.</a:t>
            </a:r>
          </a:p>
          <a:p>
            <a:pPr>
              <a:spcAft>
                <a:spcPts val="1000"/>
              </a:spcAft>
              <a:defRPr b="1" sz="1400">
                <a:solidFill>
                  <a:srgbClr val="FFFFFF"/>
                </a:solidFill>
              </a:defRPr>
            </a:pPr>
            <a:r>
              <a:t>•  Design Patterns: </a:t>
            </a:r>
            <a:r>
              <a:rPr b="0" sz="1300">
                <a:solidFill>
                  <a:srgbClr val="94A3B8"/>
                </a:solidFill>
              </a:rPr>
              <a:t>Implements clean object transitions (State for leaves, Decorator for allowances, Strategy for tax regimes).</a:t>
            </a:r>
          </a:p>
          <a:p>
            <a:pPr>
              <a:spcAft>
                <a:spcPts val="1000"/>
              </a:spcAft>
              <a:defRPr b="1" sz="1400">
                <a:solidFill>
                  <a:srgbClr val="FFFFFF"/>
                </a:solidFill>
              </a:defRPr>
            </a:pPr>
            <a:r>
              <a:t>•  Undo Operations Stack: </a:t>
            </a:r>
            <a:r>
              <a:rPr b="0" sz="1300">
                <a:solidFill>
                  <a:srgbClr val="94A3B8"/>
                </a:solidFill>
              </a:rPr>
              <a:t>Manages a CommandStack object (Command Pattern) allowing administrators to undo salary adjustments.</a:t>
            </a:r>
          </a:p>
          <a:p>
            <a:pPr>
              <a:spcAft>
                <a:spcPts val="1000"/>
              </a:spcAft>
              <a:defRPr b="1" sz="1400">
                <a:solidFill>
                  <a:srgbClr val="FFFFFF"/>
                </a:solidFill>
              </a:defRPr>
            </a:pPr>
            <a:r>
              <a:t>•  Password Hashing: </a:t>
            </a:r>
            <a:r>
              <a:rPr b="0" sz="1300">
                <a:solidFill>
                  <a:srgbClr val="94A3B8"/>
                </a:solidFill>
              </a:rPr>
              <a:t>Executes secure SHA-256 password encoding in SecurityUtils.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SQL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SQL: Storing Secure Ledger Records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657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14B8A6"/>
                </a:solidFill>
                <a:latin typeface="Segoe UI"/>
              </a:defRPr>
            </a:pPr>
            <a:r>
              <a:t>16</a:t>
            </a:r>
          </a:p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SQL Database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645920"/>
            <a:ext cx="6766560" cy="4114800"/>
          </a:xfrm>
          <a:prstGeom prst="roundRect">
            <a:avLst/>
          </a:prstGeom>
          <a:solidFill>
            <a:srgbClr val="1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920240"/>
            <a:ext cx="6217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1800">
                <a:solidFill>
                  <a:srgbClr val="14B8A6"/>
                </a:solidFill>
                <a:latin typeface="Segoe UI"/>
              </a:defRPr>
            </a:pPr>
            <a:r>
              <a:t>WHAT SQL IS USED FOR IN THIS PROJECT</a:t>
            </a:r>
          </a:p>
          <a:p>
            <a:pPr>
              <a:spcAft>
                <a:spcPts val="1000"/>
              </a:spcAft>
              <a:defRPr b="1" sz="1400">
                <a:solidFill>
                  <a:srgbClr val="FFFFFF"/>
                </a:solidFill>
              </a:defRPr>
            </a:pPr>
            <a:r>
              <a:t>•  Keep-Alive H2 Database: </a:t>
            </a:r>
            <a:r>
              <a:rPr b="0" sz="1300">
                <a:solidFill>
                  <a:srgbClr val="94A3B8"/>
                </a:solidFill>
              </a:rPr>
              <a:t>Executes an in-memory SQL server using a shared connection singleton to keep the database session alive.</a:t>
            </a:r>
          </a:p>
          <a:p>
            <a:pPr>
              <a:spcAft>
                <a:spcPts val="1000"/>
              </a:spcAft>
              <a:defRPr b="1" sz="1400">
                <a:solidFill>
                  <a:srgbClr val="FFFFFF"/>
                </a:solidFill>
              </a:defRPr>
            </a:pPr>
            <a:r>
              <a:t>•  Safe Data Insertion: </a:t>
            </a:r>
            <a:r>
              <a:rPr b="0" sz="1300">
                <a:solidFill>
                  <a:srgbClr val="94A3B8"/>
                </a:solidFill>
              </a:rPr>
              <a:t>Utilises Prepared Statements in Dao classes to prevent SQL injections.</a:t>
            </a:r>
          </a:p>
          <a:p>
            <a:pPr>
              <a:spcAft>
                <a:spcPts val="1000"/>
              </a:spcAft>
              <a:defRPr b="1" sz="1400">
                <a:solidFill>
                  <a:srgbClr val="FFFFFF"/>
                </a:solidFill>
              </a:defRPr>
            </a:pPr>
            <a:r>
              <a:t>•  Data Relations: </a:t>
            </a:r>
            <a:r>
              <a:rPr b="0" sz="1300">
                <a:solidFill>
                  <a:srgbClr val="94A3B8"/>
                </a:solidFill>
              </a:rPr>
              <a:t>Enforces foreign keys to map users, employee profiles, leaves approvals, and transaction logs.</a:t>
            </a:r>
          </a:p>
          <a:p>
            <a:pPr>
              <a:spcAft>
                <a:spcPts val="1000"/>
              </a:spcAft>
              <a:defRPr b="1" sz="1400">
                <a:solidFill>
                  <a:srgbClr val="FFFFFF"/>
                </a:solidFill>
              </a:defRPr>
            </a:pPr>
            <a:r>
              <a:t>•  Programmatic Schema Run: </a:t>
            </a:r>
            <a:r>
              <a:rPr b="0" sz="1300">
                <a:solidFill>
                  <a:srgbClr val="94A3B8"/>
                </a:solidFill>
              </a:rPr>
              <a:t>Executes schema.sql programmatically exactly once at server startup to seed default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DSA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DSA: Optimising Local Calculations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920240"/>
          </a:xfrm>
          <a:prstGeom prst="roundRect">
            <a:avLst/>
          </a:prstGeom>
          <a:solidFill>
            <a:srgbClr val="16181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14B8A6"/>
                </a:solidFill>
                <a:latin typeface="Segoe UI"/>
              </a:defRPr>
            </a:pPr>
            <a:r>
              <a:t>Trie Autocomplete</a:t>
            </a:r>
          </a:p>
          <a:p>
            <a:pPr>
              <a:lnSpc>
                <a:spcPct val="130000"/>
              </a:lnSpc>
              <a:defRPr sz="1350">
                <a:solidFill>
                  <a:srgbClr val="FFFFFF"/>
                </a:solidFill>
                <a:latin typeface="Segoe UI"/>
              </a:defRPr>
            </a:pPr>
            <a:r>
              <a:t>Stores names and IDs in a trie structure. Used for prefix-matching autocomplete in search bars.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1920240"/>
          </a:xfrm>
          <a:prstGeom prst="roundRect">
            <a:avLst/>
          </a:prstGeom>
          <a:solidFill>
            <a:srgbClr val="16181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6366F1"/>
                </a:solidFill>
                <a:latin typeface="Segoe UI"/>
              </a:defRPr>
            </a:pPr>
            <a:r>
              <a:t>OrgGraph Tree</a:t>
            </a:r>
          </a:p>
          <a:p>
            <a:pPr>
              <a:lnSpc>
                <a:spcPct val="130000"/>
              </a:lnSpc>
              <a:defRPr sz="1350">
                <a:solidFill>
                  <a:srgbClr val="FFFFFF"/>
                </a:solidFill>
                <a:latin typeface="Segoe UI"/>
              </a:defRPr>
            </a:pPr>
            <a:r>
              <a:t>A directed graph representing reporting hierarchies. Used to find reporting chains and check for manager cycles.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49039"/>
            <a:ext cx="5120640" cy="1920240"/>
          </a:xfrm>
          <a:prstGeom prst="roundRect">
            <a:avLst/>
          </a:prstGeom>
          <a:solidFill>
            <a:srgbClr val="16181E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19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14B8A6"/>
                </a:solidFill>
                <a:latin typeface="Segoe UI"/>
              </a:defRPr>
            </a:pPr>
            <a:r>
              <a:t>Segment Tree</a:t>
            </a:r>
          </a:p>
          <a:p>
            <a:pPr>
              <a:lnSpc>
                <a:spcPct val="130000"/>
              </a:lnSpc>
              <a:defRPr sz="1350">
                <a:solidFill>
                  <a:srgbClr val="FFFFFF"/>
                </a:solidFill>
                <a:latin typeface="Segoe UI"/>
              </a:defRPr>
            </a:pPr>
            <a:r>
              <a:t>Queries salary aggregate metrics (sum &amp; max salaries) dynamically across ranges in O(log N) speed.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749039"/>
            <a:ext cx="5120640" cy="1920240"/>
          </a:xfrm>
          <a:prstGeom prst="roundRect">
            <a:avLst/>
          </a:prstGeom>
          <a:solidFill>
            <a:srgbClr val="16181E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931919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800">
                <a:solidFill>
                  <a:srgbClr val="6366F1"/>
                </a:solidFill>
                <a:latin typeface="Segoe UI"/>
              </a:defRPr>
            </a:pPr>
            <a:r>
              <a:t>LRU Profile Cache</a:t>
            </a:r>
          </a:p>
          <a:p>
            <a:pPr>
              <a:lnSpc>
                <a:spcPct val="130000"/>
              </a:lnSpc>
              <a:defRPr sz="1350">
                <a:solidFill>
                  <a:srgbClr val="FFFFFF"/>
                </a:solidFill>
                <a:latin typeface="Segoe UI"/>
              </a:defRPr>
            </a:pPr>
            <a:r>
              <a:t>Evicts least recently used profiles. Serves records directly out of RAM in O(1)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FRONTEND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Frontend: The Glassmorphic Client Portal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6766560" cy="4114800"/>
          </a:xfrm>
          <a:prstGeom prst="roundRect">
            <a:avLst/>
          </a:prstGeom>
          <a:solidFill>
            <a:srgbClr val="1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62179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1800">
                <a:solidFill>
                  <a:srgbClr val="14B8A6"/>
                </a:solidFill>
                <a:latin typeface="Segoe UI"/>
              </a:defRPr>
            </a:pPr>
            <a:r>
              <a:t>WHAT FRONTEND TECH IS USED FOR WHAT</a:t>
            </a:r>
          </a:p>
          <a:p>
            <a:pPr>
              <a:spcAft>
                <a:spcPts val="1000"/>
              </a:spcAft>
              <a:defRPr b="1" sz="1400">
                <a:solidFill>
                  <a:srgbClr val="FFFFFF"/>
                </a:solidFill>
              </a:defRPr>
            </a:pPr>
            <a:r>
              <a:t>•  HTML5 Document Structure: </a:t>
            </a:r>
            <a:r>
              <a:rPr b="0" sz="1300">
                <a:solidFill>
                  <a:srgbClr val="94A3B8"/>
                </a:solidFill>
              </a:rPr>
              <a:t>Creates layout sections (Metric panels, roster lists, and leave request forms).</a:t>
            </a:r>
          </a:p>
          <a:p>
            <a:pPr>
              <a:spcAft>
                <a:spcPts val="1000"/>
              </a:spcAft>
              <a:defRPr b="1" sz="1400">
                <a:solidFill>
                  <a:srgbClr val="FFFFFF"/>
                </a:solidFill>
              </a:defRPr>
            </a:pPr>
            <a:r>
              <a:t>•  Vanilla CSS3 Layouts: </a:t>
            </a:r>
            <a:r>
              <a:rPr b="0" sz="1300">
                <a:solidFill>
                  <a:srgbClr val="94A3B8"/>
                </a:solidFill>
              </a:rPr>
              <a:t>Applies styling rules (gradient glass card containers, navigation hover cues, animations).</a:t>
            </a:r>
          </a:p>
          <a:p>
            <a:pPr>
              <a:spcAft>
                <a:spcPts val="1000"/>
              </a:spcAft>
              <a:defRPr b="1" sz="1400">
                <a:solidFill>
                  <a:srgbClr val="FFFFFF"/>
                </a:solidFill>
              </a:defRPr>
            </a:pPr>
            <a:r>
              <a:t>•  JavaScript Fetch API: </a:t>
            </a:r>
            <a:r>
              <a:rPr b="0" sz="1300">
                <a:solidFill>
                  <a:srgbClr val="94A3B8"/>
                </a:solidFill>
              </a:rPr>
              <a:t>Communicates with Java HttpServer endpoints dynamically (transmits registration, login credentials, and leave submissions).</a:t>
            </a:r>
          </a:p>
          <a:p>
            <a:pPr>
              <a:spcAft>
                <a:spcPts val="1000"/>
              </a:spcAft>
              <a:defRPr b="1" sz="1400">
                <a:solidFill>
                  <a:srgbClr val="FFFFFF"/>
                </a:solidFill>
              </a:defRPr>
            </a:pPr>
            <a:r>
              <a:t>•  Dynamic Visibility (RBAC): </a:t>
            </a:r>
            <a:r>
              <a:rPr b="0" sz="1300">
                <a:solidFill>
                  <a:srgbClr val="94A3B8"/>
                </a:solidFill>
              </a:rPr>
              <a:t>Evaluates session credentials in JS to adapt dashboards based on user roles.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45920"/>
            <a:ext cx="365760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920240"/>
            <a:ext cx="3291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b="1" sz="1600">
                <a:solidFill>
                  <a:srgbClr val="FFFFFF"/>
                </a:solidFill>
                <a:latin typeface="Segoe UI"/>
              </a:defRPr>
            </a:pPr>
            <a:r>
              <a:t>DYNAMIC VIEWS ENFORCED</a:t>
            </a:r>
          </a:p>
          <a:p>
            <a:pPr>
              <a:lnSpc>
                <a:spcPct val="130000"/>
              </a:lnSpc>
              <a:defRPr sz="1350">
                <a:solidFill>
                  <a:srgbClr val="FFFFFF"/>
                </a:solidFill>
                <a:latin typeface="Segoe UI"/>
              </a:defRPr>
            </a:pPr>
            <a:r>
              <a:t>• Employees: View personal profiles and submit leaves.</a:t>
            </a:r>
            <a:br/>
            <a:br/>
            <a:r>
              <a:t>• HR Managers: Registers employees and approves leaves.</a:t>
            </a:r>
            <a:br/>
            <a:br/>
            <a:r>
              <a:t>• Finance Analysts: Modulates salary forecasting curves.</a:t>
            </a:r>
            <a:br/>
            <a:br/>
            <a:r>
              <a:t>• Admins: Audits transaction logs.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 lIns="0" tIns="0" bIns="0" r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Separation of Backend &amp; Frontend Folders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10698480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4114800" cy="4114800"/>
          </a:xfrm>
          <a:prstGeom prst="roundRect">
            <a:avLst/>
          </a:prstGeom>
          <a:solidFill>
            <a:srgbClr val="1618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749039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1400">
                <a:solidFill>
                  <a:srgbClr val="14B8A6"/>
                </a:solidFill>
                <a:latin typeface="Segoe UI"/>
              </a:defRPr>
            </a:pPr>
            <a:r>
              <a:t>WORKSPACE DIRECTORY SEPARATION</a:t>
            </a:r>
          </a:p>
          <a:p>
            <a:pPr>
              <a:lnSpc>
                <a:spcPct val="125000"/>
              </a:lnSpc>
              <a:defRPr sz="1350" b="1">
                <a:solidFill>
                  <a:srgbClr val="FFFFFF"/>
                </a:solidFill>
                <a:latin typeface="Courier New"/>
              </a:defRPr>
            </a:pPr>
            <a:r>
              <a:t>c:\javap\</a:t>
            </a:r>
            <a:br/>
            <a:r>
              <a:t>├── frontend/</a:t>
            </a:r>
            <a:br/>
            <a:r>
              <a:t>│   └── index.html (Client UI)</a:t>
            </a:r>
            <a:br/>
            <a:r>
              <a:t>│</a:t>
            </a:r>
            <a:br/>
            <a:r>
              <a:t>├── backend/</a:t>
            </a:r>
            <a:br/>
            <a:r>
              <a:t>│   ├── src/ (Java &amp; SQL logic)</a:t>
            </a:r>
            <a:br/>
            <a:r>
              <a:t>│   └── pom.xml (Maven config)</a:t>
            </a:r>
            <a:br/>
            <a:r>
              <a:t>│</a:t>
            </a:r>
            <a:br/>
            <a:r>
              <a:t>├── build.ps1 (Powershell Runner)</a:t>
            </a:r>
            <a:br/>
            <a:r>
              <a:t>└── .gitignore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645920"/>
            <a:ext cx="6309360" cy="4114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1920240"/>
            <a:ext cx="57607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1800">
                <a:solidFill>
                  <a:srgbClr val="14B8A6"/>
                </a:solidFill>
                <a:latin typeface="Segoe UI"/>
              </a:defRPr>
            </a:pPr>
            <a:r>
              <a:t>WHAT IS USED FOR CREATING WHAT?</a:t>
            </a:r>
          </a:p>
          <a:p>
            <a:pPr>
              <a:lnSpc>
                <a:spcPct val="130000"/>
              </a:lnSpc>
              <a:defRPr sz="1350">
                <a:solidFill>
                  <a:srgbClr val="FFFFFF"/>
                </a:solidFill>
                <a:latin typeface="Segoe UI"/>
              </a:defRPr>
            </a:pPr>
            <a:r>
              <a:t>• Separation: Code base is split into /frontend folder (for UI layout assets) and /backend folder (for Java and SQL execution logic).</a:t>
            </a:r>
            <a:br/>
            <a:br/>
            <a:r>
              <a:t>• Resource mapping: backend/pom.xml uses a directory resource mapper that automatically copies the sibling /frontend folder inside the target classes resource web folder during compilation.</a:t>
            </a:r>
            <a:br/>
            <a:br/>
            <a:r>
              <a:t>• Execution: Java HttpServer uses Java Classloader streams to serve the copied index.html, keeping the final JAR build self-contained.</a:t>
            </a:r>
            <a:br/>
            <a:br/>
            <a:r>
              <a:t>• Build Script: build.ps1 sets JVM variables and clean-compiles the backend.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