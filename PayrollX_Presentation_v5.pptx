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technical overview of PayrollX AI. This system is designed as a lightweight, high-performance intranet platform leveraging core Java 17 execution, prepared statement SQL databases, and handwritten Data Structures and Algorithms.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goal was solving performance and data vulnerabilities. Standard intranet applications consume excessive memory because of bloated libraries. In contrast, PayrollX AI uses native Java libraries, safe SQL mappings, and custom algorithms.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solution is a native, self-contained application. It splits access boundaries between Employee, Manager, and Admin profiles, and uses custom Java verification filters to guarantee financial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stack mapping Java, SQL, and DSA. We use standard Java 17 for backend execution, H2 SQL for secure data schemas, and handwritten data structures (Trie, OrgGraph, Segment Tree, LRU cache) for highly optimized local computation.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workspace is restructured into clear frontend and backend subdirectories. At build time, Maven compiles the Java server, grabs the frontend folder contents, packages it in target classpaths, and runs verification checks, keeping files highly organized.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828800"/>
            <a:ext cx="73152" cy="32004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3200400"/>
          </a:xfrm>
          <a:prstGeom prst="rect">
            <a:avLst/>
          </a:prstGeom>
          <a:noFill/>
        </p:spPr>
        <p:txBody>
          <a:bodyPr wrap="square">
            <a:spAutoFit/>
          </a:bodyPr>
          <a:lstStyle/>
          <a:p>
            <a:pPr>
              <a:spcAft>
                <a:spcPts val="800"/>
              </a:spcAft>
              <a:defRPr sz="6400" b="1">
                <a:solidFill>
                  <a:srgbClr val="FFFFFF"/>
                </a:solidFill>
                <a:latin typeface="Segoe UI"/>
              </a:defRPr>
            </a:pPr>
            <a:r>
              <a:t>PAYROLLX AI</a:t>
            </a:r>
          </a:p>
          <a:p>
            <a:pPr>
              <a:spcAft>
                <a:spcPts val="3500"/>
              </a:spcAft>
              <a:defRPr sz="2400">
                <a:solidFill>
                  <a:srgbClr val="94A3B8"/>
                </a:solidFill>
                <a:latin typeface="Segoe UI"/>
              </a:defRPr>
            </a:pPr>
            <a:r>
              <a:t>Java, SQL &amp; Custom DSA Enterprise System</a:t>
            </a:r>
          </a:p>
          <a:p>
            <a:pPr>
              <a:defRPr sz="1200" b="1">
                <a:solidFill>
                  <a:srgbClr val="14B8A6"/>
                </a:solidFill>
                <a:latin typeface="Segoe UI"/>
              </a:defRPr>
            </a:pPr>
            <a:r>
              <a:t>TECHNICAL PROJECT OVERVIEW  |  VISHESH TOMAR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bIns="0" rIns="0">
            <a:spAutoFit/>
          </a:bodyPr>
          <a:lstStyle/>
          <a:p>
            <a:pPr>
              <a:defRPr sz="1000" b="1">
                <a:solidFill>
                  <a:srgbClr val="14B8A6"/>
                </a:solidFill>
                <a:latin typeface="Segoe UI"/>
              </a:defRPr>
            </a:pPr>
            <a:r>
              <a:t>OBJECTIVE</a:t>
            </a:r>
          </a:p>
        </p:txBody>
      </p:sp>
      <p:sp>
        <p:nvSpPr>
          <p:cNvPr id="3" name="TextBox 2"/>
          <p:cNvSpPr txBox="1"/>
          <p:nvPr/>
        </p:nvSpPr>
        <p:spPr>
          <a:xfrm>
            <a:off x="731520" y="594360"/>
            <a:ext cx="10698480" cy="548640"/>
          </a:xfrm>
          <a:prstGeom prst="rect">
            <a:avLst/>
          </a:prstGeom>
          <a:noFill/>
        </p:spPr>
        <p:txBody>
          <a:bodyPr wrap="square" lIns="0" tIns="0" bIns="0" rIns="0">
            <a:spAutoFit/>
          </a:bodyPr>
          <a:lstStyle/>
          <a:p>
            <a:pPr>
              <a:defRPr sz="2800" b="1">
                <a:solidFill>
                  <a:srgbClr val="FFFFFF"/>
                </a:solidFill>
                <a:latin typeface="Segoe UI"/>
              </a:defRPr>
            </a:pPr>
            <a:r>
              <a:t>System Objective &amp; Technical Goals</a:t>
            </a:r>
          </a:p>
        </p:txBody>
      </p:sp>
      <p:sp>
        <p:nvSpPr>
          <p:cNvPr id="4" name="Rectangle 3"/>
          <p:cNvSpPr/>
          <p:nvPr/>
        </p:nvSpPr>
        <p:spPr>
          <a:xfrm>
            <a:off x="731520" y="1188720"/>
            <a:ext cx="10698480"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5029200" cy="4114800"/>
          </a:xfrm>
          <a:prstGeom prst="rect">
            <a:avLst/>
          </a:prstGeom>
          <a:noFill/>
        </p:spPr>
        <p:txBody>
          <a:bodyPr wrap="square">
            <a:spAutoFit/>
          </a:bodyPr>
          <a:lstStyle/>
          <a:p>
            <a:pPr>
              <a:lnSpc>
                <a:spcPct val="120000"/>
              </a:lnSpc>
              <a:spcAft>
                <a:spcPts val="2500"/>
              </a:spcAft>
              <a:defRPr sz="2800" b="1">
                <a:solidFill>
                  <a:srgbClr val="14B8A6"/>
                </a:solidFill>
                <a:latin typeface="Segoe UI"/>
              </a:defRPr>
            </a:pPr>
            <a:r>
              <a:t>Solve resource bloat and data vulnerability in HR tools.</a:t>
            </a:r>
          </a:p>
          <a:p>
            <a:pPr>
              <a:lnSpc>
                <a:spcPct val="130000"/>
              </a:lnSpc>
              <a:defRPr sz="1500">
                <a:solidFill>
                  <a:srgbClr val="94A3B8"/>
                </a:solidFill>
                <a:latin typeface="Segoe UI"/>
              </a:defRPr>
            </a:pPr>
            <a:r>
              <a:t>Our core technical objective was to replace bulky third-party server environments with a zero-dependency Java server. We aimed to establish a connection manager that keeps database schemas alive, and segregate client access dynamically.</a:t>
            </a:r>
          </a:p>
        </p:txBody>
      </p:sp>
      <p:sp>
        <p:nvSpPr>
          <p:cNvPr id="6" name="Rounded Rectangle 5"/>
          <p:cNvSpPr/>
          <p:nvPr/>
        </p:nvSpPr>
        <p:spPr>
          <a:xfrm>
            <a:off x="6217920" y="1645920"/>
            <a:ext cx="5212080" cy="4114800"/>
          </a:xfrm>
          <a:prstGeom prst="roundRect">
            <a:avLst/>
          </a:prstGeom>
          <a:solidFill>
            <a:srgbClr val="450A0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920240"/>
            <a:ext cx="4663440" cy="3566160"/>
          </a:xfrm>
          <a:prstGeom prst="rect">
            <a:avLst/>
          </a:prstGeom>
          <a:noFill/>
        </p:spPr>
        <p:txBody>
          <a:bodyPr wrap="square">
            <a:spAutoFit/>
          </a:bodyPr>
          <a:lstStyle/>
          <a:p>
            <a:pPr>
              <a:spcAft>
                <a:spcPts val="2000"/>
              </a:spcAft>
              <a:defRPr b="1" sz="1800">
                <a:solidFill>
                  <a:srgbClr val="FFFFFF"/>
                </a:solidFill>
                <a:latin typeface="Segoe UI"/>
              </a:defRPr>
            </a:pPr>
            <a:r>
              <a:t>THE SECURITY &amp; FRAUD CHALLENGE</a:t>
            </a:r>
          </a:p>
          <a:p>
            <a:pPr>
              <a:lnSpc>
                <a:spcPct val="130000"/>
              </a:lnSpc>
              <a:defRPr sz="1400">
                <a:solidFill>
                  <a:srgbClr val="FFFFFF"/>
                </a:solidFill>
                <a:latin typeface="Segoe UI"/>
              </a:defRPr>
            </a:pPr>
            <a:r>
              <a:t>Manual auditing fails to scale as headcounts expand. Without automated validation checks, systems are exposed to:</a:t>
            </a:r>
            <a:br/>
            <a:br/>
            <a:r>
              <a:t>• Duplicate Payroll: Released check amounts duplicated.</a:t>
            </a:r>
            <a:br/>
            <a:r>
              <a:t>• Spoofed Attendance: Out-of-order check-ins (clock-out before check-in).</a:t>
            </a:r>
            <a:br/>
            <a:r>
              <a:t>• Mixed Roster Portals: Regular users seeing admin analytics.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bIns="0" rIns="0">
            <a:spAutoFit/>
          </a:bodyPr>
          <a:lstStyle/>
          <a:p>
            <a:pPr>
              <a:defRPr sz="1000" b="1">
                <a:solidFill>
                  <a:srgbClr val="14B8A6"/>
                </a:solidFill>
                <a:latin typeface="Segoe UI"/>
              </a:defRPr>
            </a:pPr>
            <a:r>
              <a:t>SOLUTION</a:t>
            </a:r>
          </a:p>
        </p:txBody>
      </p:sp>
      <p:sp>
        <p:nvSpPr>
          <p:cNvPr id="3" name="TextBox 2"/>
          <p:cNvSpPr txBox="1"/>
          <p:nvPr/>
        </p:nvSpPr>
        <p:spPr>
          <a:xfrm>
            <a:off x="731520" y="594360"/>
            <a:ext cx="10698480" cy="548640"/>
          </a:xfrm>
          <a:prstGeom prst="rect">
            <a:avLst/>
          </a:prstGeom>
          <a:noFill/>
        </p:spPr>
        <p:txBody>
          <a:bodyPr wrap="square" lIns="0" tIns="0" bIns="0" rIns="0">
            <a:spAutoFit/>
          </a:bodyPr>
          <a:lstStyle/>
          <a:p>
            <a:pPr>
              <a:defRPr sz="2800" b="1">
                <a:solidFill>
                  <a:srgbClr val="FFFFFF"/>
                </a:solidFill>
                <a:latin typeface="Segoe UI"/>
              </a:defRPr>
            </a:pPr>
            <a:r>
              <a:t>The Solution Architecture</a:t>
            </a:r>
          </a:p>
        </p:txBody>
      </p:sp>
      <p:sp>
        <p:nvSpPr>
          <p:cNvPr id="4" name="Rectangle 3"/>
          <p:cNvSpPr/>
          <p:nvPr/>
        </p:nvSpPr>
        <p:spPr>
          <a:xfrm>
            <a:off x="731520" y="1188720"/>
            <a:ext cx="10698480"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291840" cy="4114800"/>
          </a:xfrm>
          <a:prstGeom prst="roundRect">
            <a:avLst/>
          </a:prstGeom>
          <a:solidFill>
            <a:srgbClr val="141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2926080" cy="3566160"/>
          </a:xfrm>
          <a:prstGeom prst="rect">
            <a:avLst/>
          </a:prstGeom>
          <a:noFill/>
        </p:spPr>
        <p:txBody>
          <a:bodyPr wrap="square">
            <a:spAutoFit/>
          </a:bodyPr>
          <a:lstStyle/>
          <a:p>
            <a:pPr>
              <a:spcAft>
                <a:spcPts val="2000"/>
              </a:spcAft>
              <a:defRPr b="1" sz="2200">
                <a:solidFill>
                  <a:srgbClr val="14B8A6"/>
                </a:solidFill>
                <a:latin typeface="Segoe UI"/>
              </a:defRPr>
            </a:pPr>
            <a:r>
              <a:t>JDK Native Core Server</a:t>
            </a:r>
          </a:p>
          <a:p>
            <a:pPr>
              <a:lnSpc>
                <a:spcPct val="130000"/>
              </a:lnSpc>
              <a:defRPr sz="1400">
                <a:solidFill>
                  <a:srgbClr val="94A3B8"/>
                </a:solidFill>
                <a:latin typeface="Segoe UI"/>
              </a:defRPr>
            </a:pPr>
            <a:r>
              <a:t>Operates a lightweight com.sun.net.httpserver on Java 17. Booting is instantaneous (&lt; 1.5s) with a tiny footprint.</a:t>
            </a:r>
          </a:p>
        </p:txBody>
      </p:sp>
      <p:sp>
        <p:nvSpPr>
          <p:cNvPr id="7" name="Rounded Rectangle 6"/>
          <p:cNvSpPr/>
          <p:nvPr/>
        </p:nvSpPr>
        <p:spPr>
          <a:xfrm>
            <a:off x="4480559" y="1645920"/>
            <a:ext cx="3291840" cy="4114800"/>
          </a:xfrm>
          <a:prstGeom prst="roundRect">
            <a:avLst/>
          </a:prstGeom>
          <a:solidFill>
            <a:srgbClr val="1E293B"/>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39" y="1920240"/>
            <a:ext cx="2926080" cy="3566160"/>
          </a:xfrm>
          <a:prstGeom prst="rect">
            <a:avLst/>
          </a:prstGeom>
          <a:noFill/>
        </p:spPr>
        <p:txBody>
          <a:bodyPr wrap="square">
            <a:spAutoFit/>
          </a:bodyPr>
          <a:lstStyle/>
          <a:p>
            <a:pPr>
              <a:spcAft>
                <a:spcPts val="2000"/>
              </a:spcAft>
              <a:defRPr b="1" sz="2200">
                <a:solidFill>
                  <a:srgbClr val="FFFFFF"/>
                </a:solidFill>
                <a:latin typeface="Segoe UI"/>
              </a:defRPr>
            </a:pPr>
            <a:r>
              <a:t>Role-Segregated SPA</a:t>
            </a:r>
          </a:p>
          <a:p>
            <a:pPr>
              <a:lnSpc>
                <a:spcPct val="130000"/>
              </a:lnSpc>
              <a:defRPr sz="1400">
                <a:solidFill>
                  <a:srgbClr val="FFFFFF"/>
                </a:solidFill>
                <a:latin typeface="Segoe UI"/>
              </a:defRPr>
            </a:pPr>
            <a:r>
              <a:t>Implements strict Access Control (RBAC). Employees access self-service; Managers check approvals; Admins scan audits.</a:t>
            </a:r>
          </a:p>
        </p:txBody>
      </p:sp>
      <p:sp>
        <p:nvSpPr>
          <p:cNvPr id="9" name="Rounded Rectangle 8"/>
          <p:cNvSpPr/>
          <p:nvPr/>
        </p:nvSpPr>
        <p:spPr>
          <a:xfrm>
            <a:off x="8229600" y="1645920"/>
            <a:ext cx="3291840" cy="4114800"/>
          </a:xfrm>
          <a:prstGeom prst="roundRect">
            <a:avLst/>
          </a:prstGeom>
          <a:solidFill>
            <a:srgbClr val="141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0" y="1920240"/>
            <a:ext cx="2926080" cy="3566160"/>
          </a:xfrm>
          <a:prstGeom prst="rect">
            <a:avLst/>
          </a:prstGeom>
          <a:noFill/>
        </p:spPr>
        <p:txBody>
          <a:bodyPr wrap="square">
            <a:spAutoFit/>
          </a:bodyPr>
          <a:lstStyle/>
          <a:p>
            <a:pPr>
              <a:spcAft>
                <a:spcPts val="2000"/>
              </a:spcAft>
              <a:defRPr b="1" sz="2200">
                <a:solidFill>
                  <a:srgbClr val="14B8A6"/>
                </a:solidFill>
                <a:latin typeface="Segoe UI"/>
              </a:defRPr>
            </a:pPr>
            <a:r>
              <a:t>Automated Validation</a:t>
            </a:r>
          </a:p>
          <a:p>
            <a:pPr>
              <a:lnSpc>
                <a:spcPct val="130000"/>
              </a:lnSpc>
              <a:defRPr sz="1400">
                <a:solidFill>
                  <a:srgbClr val="94A3B8"/>
                </a:solidFill>
                <a:latin typeface="Segoe UI"/>
              </a:defRPr>
            </a:pPr>
            <a:r>
              <a:t>Performs anomaly checks programmatically. Uses command patterns supporting Undo stacks to revert updates.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bIns="0" rIns="0">
            <a:spAutoFit/>
          </a:bodyPr>
          <a:lstStyle/>
          <a:p>
            <a:pPr>
              <a:defRPr sz="1000" b="1">
                <a:solidFill>
                  <a:srgbClr val="14B8A6"/>
                </a:solidFill>
                <a:latin typeface="Segoe UI"/>
              </a:defRPr>
            </a:pPr>
            <a:r>
              <a:t>TECH STACK</a:t>
            </a:r>
          </a:p>
        </p:txBody>
      </p:sp>
      <p:sp>
        <p:nvSpPr>
          <p:cNvPr id="3" name="TextBox 2"/>
          <p:cNvSpPr txBox="1"/>
          <p:nvPr/>
        </p:nvSpPr>
        <p:spPr>
          <a:xfrm>
            <a:off x="731520" y="594360"/>
            <a:ext cx="10698480" cy="548640"/>
          </a:xfrm>
          <a:prstGeom prst="rect">
            <a:avLst/>
          </a:prstGeom>
          <a:noFill/>
        </p:spPr>
        <p:txBody>
          <a:bodyPr wrap="square" lIns="0" tIns="0" bIns="0" rIns="0">
            <a:spAutoFit/>
          </a:bodyPr>
          <a:lstStyle/>
          <a:p>
            <a:pPr>
              <a:defRPr sz="2800" b="1">
                <a:solidFill>
                  <a:srgbClr val="FFFFFF"/>
                </a:solidFill>
                <a:latin typeface="Segoe UI"/>
              </a:defRPr>
            </a:pPr>
            <a:r>
              <a:t>Skill-Focused Technology Stack</a:t>
            </a:r>
          </a:p>
        </p:txBody>
      </p:sp>
      <p:sp>
        <p:nvSpPr>
          <p:cNvPr id="4" name="Rectangle 3"/>
          <p:cNvSpPr/>
          <p:nvPr/>
        </p:nvSpPr>
        <p:spPr>
          <a:xfrm>
            <a:off x="731520" y="1188720"/>
            <a:ext cx="10698480"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291840" cy="4114800"/>
          </a:xfrm>
          <a:prstGeom prst="roundRect">
            <a:avLst/>
          </a:prstGeom>
          <a:solidFill>
            <a:srgbClr val="141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3017520" cy="3749039"/>
          </a:xfrm>
          <a:prstGeom prst="rect">
            <a:avLst/>
          </a:prstGeom>
          <a:noFill/>
        </p:spPr>
        <p:txBody>
          <a:bodyPr wrap="square">
            <a:spAutoFit/>
          </a:bodyPr>
          <a:lstStyle/>
          <a:p>
            <a:pPr>
              <a:defRPr b="1" sz="2000">
                <a:solidFill>
                  <a:srgbClr val="14B8A6"/>
                </a:solidFill>
                <a:latin typeface="Segoe UI"/>
              </a:defRPr>
            </a:pPr>
            <a:r>
              <a:t>JAVA BACKEND</a:t>
            </a:r>
          </a:p>
          <a:p>
            <a:pPr>
              <a:spcAft>
                <a:spcPts val="2000"/>
              </a:spcAft>
              <a:defRPr b="1" sz="1300">
                <a:solidFill>
                  <a:srgbClr val="94A3B8"/>
                </a:solidFill>
                <a:latin typeface="Segoe UI"/>
              </a:defRPr>
            </a:pPr>
            <a:r>
              <a:t>Core Server &amp; Security</a:t>
            </a:r>
          </a:p>
          <a:p>
            <a:pPr>
              <a:lnSpc>
                <a:spcPct val="130000"/>
              </a:lnSpc>
              <a:defRPr sz="1300">
                <a:solidFill>
                  <a:srgbClr val="FFFFFF"/>
                </a:solidFill>
                <a:latin typeface="Segoe UI"/>
              </a:defRPr>
            </a:pPr>
            <a:r>
              <a:t>• Java 17 JDK: Native HttpServer and concurrent executor threads.</a:t>
            </a:r>
            <a:br/>
            <a:r>
              <a:t>• Design Patterns: State (leaves), Strategy (taxes), Decorator (salary components), Command (undo).</a:t>
            </a:r>
            <a:br/>
            <a:r>
              <a:t>• Security: SHA-256 password hashing logic.</a:t>
            </a:r>
          </a:p>
        </p:txBody>
      </p:sp>
      <p:sp>
        <p:nvSpPr>
          <p:cNvPr id="7" name="Rounded Rectangle 6"/>
          <p:cNvSpPr/>
          <p:nvPr/>
        </p:nvSpPr>
        <p:spPr>
          <a:xfrm>
            <a:off x="4480559" y="1645920"/>
            <a:ext cx="3291840" cy="4114800"/>
          </a:xfrm>
          <a:prstGeom prst="roundRect">
            <a:avLst/>
          </a:prstGeom>
          <a:solidFill>
            <a:srgbClr val="141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19" y="1828800"/>
            <a:ext cx="3017520" cy="3749039"/>
          </a:xfrm>
          <a:prstGeom prst="rect">
            <a:avLst/>
          </a:prstGeom>
          <a:noFill/>
        </p:spPr>
        <p:txBody>
          <a:bodyPr wrap="square">
            <a:spAutoFit/>
          </a:bodyPr>
          <a:lstStyle/>
          <a:p>
            <a:pPr>
              <a:defRPr b="1" sz="2000">
                <a:solidFill>
                  <a:srgbClr val="6366F1"/>
                </a:solidFill>
                <a:latin typeface="Segoe UI"/>
              </a:defRPr>
            </a:pPr>
            <a:r>
              <a:t>SQL DATABASE</a:t>
            </a:r>
          </a:p>
          <a:p>
            <a:pPr>
              <a:spcAft>
                <a:spcPts val="2000"/>
              </a:spcAft>
              <a:defRPr b="1" sz="1300">
                <a:solidFill>
                  <a:srgbClr val="94A3B8"/>
                </a:solidFill>
                <a:latin typeface="Segoe UI"/>
              </a:defRPr>
            </a:pPr>
            <a:r>
              <a:t>Data Access &amp; Ledger</a:t>
            </a:r>
          </a:p>
          <a:p>
            <a:pPr>
              <a:lnSpc>
                <a:spcPct val="130000"/>
              </a:lnSpc>
              <a:defRPr sz="1300">
                <a:solidFill>
                  <a:srgbClr val="FFFFFF"/>
                </a:solidFill>
                <a:latin typeface="Segoe UI"/>
              </a:defRPr>
            </a:pPr>
            <a:r>
              <a:t>• H2 In-Memory: Session keep-alive connection singleton.</a:t>
            </a:r>
            <a:br/>
            <a:r>
              <a:t>• Prepared Statements: Prevents SQL Injection vulnerabilities.</a:t>
            </a:r>
            <a:br/>
            <a:r>
              <a:t>• 16-Table Schema: Cascading keys mapping users, roster, and audit logs.</a:t>
            </a:r>
          </a:p>
        </p:txBody>
      </p:sp>
      <p:sp>
        <p:nvSpPr>
          <p:cNvPr id="9" name="Rounded Rectangle 8"/>
          <p:cNvSpPr/>
          <p:nvPr/>
        </p:nvSpPr>
        <p:spPr>
          <a:xfrm>
            <a:off x="8229600" y="1645920"/>
            <a:ext cx="3291840" cy="4114800"/>
          </a:xfrm>
          <a:prstGeom prst="roundRect">
            <a:avLst/>
          </a:prstGeom>
          <a:solidFill>
            <a:srgbClr val="141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66760" y="1828800"/>
            <a:ext cx="3017520" cy="3749039"/>
          </a:xfrm>
          <a:prstGeom prst="rect">
            <a:avLst/>
          </a:prstGeom>
          <a:noFill/>
        </p:spPr>
        <p:txBody>
          <a:bodyPr wrap="square">
            <a:spAutoFit/>
          </a:bodyPr>
          <a:lstStyle/>
          <a:p>
            <a:pPr>
              <a:defRPr b="1" sz="2000">
                <a:solidFill>
                  <a:srgbClr val="14B8A6"/>
                </a:solidFill>
                <a:latin typeface="Segoe UI"/>
              </a:defRPr>
            </a:pPr>
            <a:r>
              <a:t>CUSTOM JAVA DSA</a:t>
            </a:r>
          </a:p>
          <a:p>
            <a:pPr>
              <a:spcAft>
                <a:spcPts val="2000"/>
              </a:spcAft>
              <a:defRPr b="1" sz="1300">
                <a:solidFill>
                  <a:srgbClr val="94A3B8"/>
                </a:solidFill>
                <a:latin typeface="Segoe UI"/>
              </a:defRPr>
            </a:pPr>
            <a:r>
              <a:t>Handwritten Algorithms</a:t>
            </a:r>
          </a:p>
          <a:p>
            <a:pPr>
              <a:lnSpc>
                <a:spcPct val="130000"/>
              </a:lnSpc>
              <a:defRPr sz="1300">
                <a:solidFill>
                  <a:srgbClr val="FFFFFF"/>
                </a:solidFill>
                <a:latin typeface="Segoe UI"/>
              </a:defRPr>
            </a:pPr>
            <a:r>
              <a:t>• Trie: Autocomplete name indexing.</a:t>
            </a:r>
            <a:br/>
            <a:r>
              <a:t>• OrgGraph: reporting line paths with cycle checks.</a:t>
            </a:r>
            <a:br/>
            <a:r>
              <a:t>• Segment Tree: O(log N) salary sum &amp; max department query bounds.</a:t>
            </a:r>
            <a:br/>
            <a:r>
              <a:t>• LRU Cache: O(1) profile retrieval RAM logs.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B0E"/>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bIns="0" rIns="0">
            <a:spAutoFit/>
          </a:bodyPr>
          <a:lstStyle/>
          <a:p>
            <a:pPr>
              <a:defRPr sz="1000" b="1">
                <a:solidFill>
                  <a:srgbClr val="14B8A6"/>
                </a:solidFill>
                <a:latin typeface="Segoe UI"/>
              </a:defRPr>
            </a:pPr>
            <a:r>
              <a:t>ARCHITECTURE</a:t>
            </a:r>
          </a:p>
        </p:txBody>
      </p:sp>
      <p:sp>
        <p:nvSpPr>
          <p:cNvPr id="3" name="TextBox 2"/>
          <p:cNvSpPr txBox="1"/>
          <p:nvPr/>
        </p:nvSpPr>
        <p:spPr>
          <a:xfrm>
            <a:off x="731520" y="594360"/>
            <a:ext cx="10698480" cy="548640"/>
          </a:xfrm>
          <a:prstGeom prst="rect">
            <a:avLst/>
          </a:prstGeom>
          <a:noFill/>
        </p:spPr>
        <p:txBody>
          <a:bodyPr wrap="square" lIns="0" tIns="0" bIns="0" rIns="0">
            <a:spAutoFit/>
          </a:bodyPr>
          <a:lstStyle/>
          <a:p>
            <a:pPr>
              <a:defRPr sz="2800" b="1">
                <a:solidFill>
                  <a:srgbClr val="FFFFFF"/>
                </a:solidFill>
                <a:latin typeface="Segoe UI"/>
              </a:defRPr>
            </a:pPr>
            <a:r>
              <a:t>Monorepo Directory restucturing</a:t>
            </a:r>
          </a:p>
        </p:txBody>
      </p:sp>
      <p:sp>
        <p:nvSpPr>
          <p:cNvPr id="4" name="Rectangle 3"/>
          <p:cNvSpPr/>
          <p:nvPr/>
        </p:nvSpPr>
        <p:spPr>
          <a:xfrm>
            <a:off x="731520" y="1188720"/>
            <a:ext cx="10698480"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4114800" cy="4114800"/>
          </a:xfrm>
          <a:prstGeom prst="roundRect">
            <a:avLst/>
          </a:prstGeom>
          <a:solidFill>
            <a:srgbClr val="141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3749039" cy="3749039"/>
          </a:xfrm>
          <a:prstGeom prst="rect">
            <a:avLst/>
          </a:prstGeom>
          <a:noFill/>
        </p:spPr>
        <p:txBody>
          <a:bodyPr wrap="square">
            <a:spAutoFit/>
          </a:bodyPr>
          <a:lstStyle/>
          <a:p>
            <a:pPr>
              <a:spcAft>
                <a:spcPts val="2000"/>
              </a:spcAft>
              <a:defRPr b="1" sz="1400">
                <a:solidFill>
                  <a:srgbClr val="14B8A6"/>
                </a:solidFill>
                <a:latin typeface="Segoe UI"/>
              </a:defRPr>
            </a:pPr>
            <a:r>
              <a:t>WORKSPACE DIRECTORY LAYOUT</a:t>
            </a:r>
          </a:p>
          <a:p>
            <a:pPr>
              <a:lnSpc>
                <a:spcPct val="125000"/>
              </a:lnSpc>
              <a:defRPr sz="1350" b="1">
                <a:solidFill>
                  <a:srgbClr val="FFFFFF"/>
                </a:solidFill>
                <a:latin typeface="Courier New"/>
              </a:defRPr>
            </a:pPr>
            <a:r>
              <a:t>c:\javap\</a:t>
            </a:r>
            <a:br/>
            <a:r>
              <a:t>├── frontend/</a:t>
            </a:r>
            <a:br/>
            <a:r>
              <a:t>│   └── index.html (Client UI)</a:t>
            </a:r>
            <a:br/>
            <a:r>
              <a:t>│</a:t>
            </a:r>
            <a:br/>
            <a:r>
              <a:t>├── backend/</a:t>
            </a:r>
            <a:br/>
            <a:r>
              <a:t>│   ├── src/ (Java &amp; SQL config)</a:t>
            </a:r>
            <a:br/>
            <a:r>
              <a:t>│   └── pom.xml (Maven config)</a:t>
            </a:r>
            <a:br/>
            <a:r>
              <a:t>│</a:t>
            </a:r>
            <a:br/>
            <a:r>
              <a:t>├── build.ps1 (Central Build Script)</a:t>
            </a:r>
            <a:br/>
            <a:r>
              <a:t>└── .gitignore</a:t>
            </a:r>
          </a:p>
        </p:txBody>
      </p:sp>
      <p:sp>
        <p:nvSpPr>
          <p:cNvPr id="7" name="Rounded Rectangle 6"/>
          <p:cNvSpPr/>
          <p:nvPr/>
        </p:nvSpPr>
        <p:spPr>
          <a:xfrm>
            <a:off x="5120640" y="1645920"/>
            <a:ext cx="6309360" cy="41148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94960" y="1920240"/>
            <a:ext cx="5760720" cy="3566160"/>
          </a:xfrm>
          <a:prstGeom prst="rect">
            <a:avLst/>
          </a:prstGeom>
          <a:noFill/>
        </p:spPr>
        <p:txBody>
          <a:bodyPr wrap="square">
            <a:spAutoFit/>
          </a:bodyPr>
          <a:lstStyle/>
          <a:p>
            <a:pPr>
              <a:spcAft>
                <a:spcPts val="2000"/>
              </a:spcAft>
              <a:defRPr b="1" sz="1800">
                <a:solidFill>
                  <a:srgbClr val="14B8A6"/>
                </a:solidFill>
                <a:latin typeface="Segoe UI"/>
              </a:defRPr>
            </a:pPr>
            <a:r>
              <a:t>COMPILE-TIME BUNDLING PIPELINE</a:t>
            </a:r>
          </a:p>
          <a:p>
            <a:pPr>
              <a:lnSpc>
                <a:spcPct val="130000"/>
              </a:lnSpc>
              <a:defRPr sz="1350">
                <a:solidFill>
                  <a:srgbClr val="FFFFFF"/>
                </a:solidFill>
                <a:latin typeface="Segoe UI"/>
              </a:defRPr>
            </a:pPr>
            <a:r>
              <a:t>• Separation of Source: Frontend developer modifies /frontend; Backend Java programmer updates /backend.</a:t>
            </a:r>
            <a:br/>
            <a:br/>
            <a:r>
              <a:t>• Maven Sibling Resource copying: backend/pom.xml includes directories map to copy the sibling /frontend folder directly inside target classes resource web folder during compilation.</a:t>
            </a:r>
            <a:br/>
            <a:br/>
            <a:r>
              <a:t>• Classloader Routing: Java HttpServer serves assets out of the packaged JAR classpath stream web/index.html natively.</a:t>
            </a:r>
            <a:br/>
            <a:br/>
            <a:r>
              <a:t>• Local script execution: Running build.ps1 clean-compiles, packages assets, and exercises the 10-test JUnit suite.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