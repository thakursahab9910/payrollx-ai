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73152" cy="3474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FFFFFF"/>
                </a:solidFill>
                <a:latin typeface="Segoe UI"/>
              </a:defRPr>
            </a:pPr>
            <a:r>
              <a:t>PAYROLLX AI</a:t>
            </a:r>
          </a:p>
          <a:p>
            <a:pPr>
              <a:spcAft>
                <a:spcPts val="4000"/>
              </a:spcAft>
              <a:defRPr sz="2200">
                <a:solidFill>
                  <a:srgbClr val="94A3B8"/>
                </a:solidFill>
                <a:latin typeface="Segoe UI"/>
              </a:defRPr>
            </a:pPr>
            <a:r>
              <a:t>Enterprise Payroll, Custom DSAs &amp; Anomaly Analytics</a:t>
            </a:r>
          </a:p>
          <a:p>
            <a:pPr>
              <a:spcAft>
                <a:spcPts val="500"/>
              </a:spcAft>
              <a:defRPr sz="1200" b="1">
                <a:solidFill>
                  <a:srgbClr val="14B8A6"/>
                </a:solidFill>
                <a:latin typeface="Segoe UI"/>
              </a:defRPr>
            </a:pPr>
            <a:r>
              <a:t>SYSTEM ARCHITECTURE &amp; TECHNICAL PRESENTATION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Presenter: Vishesh Tomar  |  Core Framework: Java 17 (Zero Dependency)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PAIN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Legacy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25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500"/>
              </a:spcAft>
              <a:defRPr sz="2600" b="1">
                <a:solidFill>
                  <a:srgbClr val="14B8A6"/>
                </a:solidFill>
                <a:latin typeface="Segoe UI"/>
              </a:defRPr>
            </a:pPr>
            <a:r>
              <a:t>Legacy frameworks introduce latency, bloat memory, and leave databases vulnerable to schema drops.</a:t>
            </a:r>
          </a:p>
          <a:p>
            <a:pPr>
              <a:lnSpc>
                <a:spcPct val="130000"/>
              </a:lnSpc>
              <a:defRPr sz="1400">
                <a:solidFill>
                  <a:srgbClr val="94A3B8"/>
                </a:solidFill>
                <a:latin typeface="Segoe UI"/>
              </a:defRPr>
            </a:pPr>
            <a:r>
              <a:t>Most corporate HR platforms run redundant application container packages. Furthermore, rigid user controls are rarely built-in, exposing administrative rosters and salary projections directly to employees.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450A0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800">
                <a:solidFill>
                  <a:srgbClr val="FFFFFF"/>
                </a:solidFill>
                <a:latin typeface="Segoe UI"/>
              </a:defRPr>
            </a:pPr>
            <a:r>
              <a:t>PAYROLL ANOMALY DANGERS</a:t>
            </a:r>
          </a:p>
          <a:p>
            <a:pPr>
              <a:lnSpc>
                <a:spcPct val="130000"/>
              </a:lnSpc>
              <a:defRPr sz="1400">
                <a:solidFill>
                  <a:srgbClr val="FFFFFF"/>
                </a:solidFill>
                <a:latin typeface="Segoe UI"/>
              </a:defRPr>
            </a:pPr>
            <a:r>
              <a:t>Without automated validation scripts at the database layer, companies risk:</a:t>
            </a:r>
            <a:br/>
            <a:br/>
            <a:r>
              <a:t>• Duplicate Disbursements: Identical salary checks released twice.</a:t>
            </a:r>
            <a:br/>
            <a:r>
              <a:t>• Attendance Spoofing: Out-of-order check-ins (clock-out before check-in).</a:t>
            </a:r>
            <a:br/>
            <a:r>
              <a:t>• Invalid Data Profiles: Suspicious negative salary configurations.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CORE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PayrollX AI System pillars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25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2200">
                <a:solidFill>
                  <a:srgbClr val="14B8A6"/>
                </a:solidFill>
                <a:latin typeface="Segoe UI"/>
              </a:defRPr>
            </a:pPr>
            <a:r>
              <a:t>JDK Native Server</a:t>
            </a:r>
          </a:p>
          <a:p>
            <a:pPr>
              <a:lnSpc>
                <a:spcPct val="130000"/>
              </a:lnSpc>
              <a:defRPr sz="1400">
                <a:solidFill>
                  <a:srgbClr val="94A3B8"/>
                </a:solidFill>
                <a:latin typeface="Segoe UI"/>
              </a:defRPr>
            </a:pPr>
            <a:r>
              <a:t>Standard Java 17 Sun HTTP server context mapping on port 8080. Booting takes less than 1.5s (zero external library overhead).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645920"/>
            <a:ext cx="3291840" cy="4114800"/>
          </a:xfrm>
          <a:prstGeom prst="roundRect">
            <a:avLst/>
          </a:prstGeom>
          <a:solidFill>
            <a:srgbClr val="252636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192024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2200">
                <a:solidFill>
                  <a:srgbClr val="FFFFFF"/>
                </a:solidFill>
                <a:latin typeface="Segoe UI"/>
              </a:defRPr>
            </a:pPr>
            <a:r>
              <a:t>Role-Segregated SPA</a:t>
            </a:r>
          </a:p>
          <a:p>
            <a:pPr>
              <a:lnSpc>
                <a:spcPct val="130000"/>
              </a:lnSpc>
              <a:defRPr sz="1400">
                <a:solidFill>
                  <a:srgbClr val="FFFFFF"/>
                </a:solidFill>
                <a:latin typeface="Segoe UI"/>
              </a:defRPr>
            </a:pPr>
            <a:r>
              <a:t>Modern, glassmorphic client interface serving views dynamically. Hides employee rosters and analytics from standard profiles.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3291840" cy="4114800"/>
          </a:xfrm>
          <a:prstGeom prst="round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92024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2200">
                <a:solidFill>
                  <a:srgbClr val="14B8A6"/>
                </a:solidFill>
                <a:latin typeface="Segoe UI"/>
              </a:defRPr>
            </a:pPr>
            <a:r>
              <a:t>Audit Anomaly Engine</a:t>
            </a:r>
          </a:p>
          <a:p>
            <a:pPr>
              <a:lnSpc>
                <a:spcPct val="130000"/>
              </a:lnSpc>
              <a:defRPr sz="1400">
                <a:solidFill>
                  <a:srgbClr val="94A3B8"/>
                </a:solidFill>
                <a:latin typeface="Segoe UI"/>
              </a:defRPr>
            </a:pPr>
            <a:r>
              <a:t>Automated validation algorithms scanning database ledgers for double payments, invalid checks, and suspicious updates.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SYSTEM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Restructured Workspace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25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286000" cy="4114800"/>
          </a:xfrm>
          <a:prstGeom prst="round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3127248" y="3474720"/>
            <a:ext cx="228600" cy="320040"/>
          </a:xfrm>
          <a:prstGeom prst="chevron">
            <a:avLst/>
          </a:prstGeom>
          <a:solidFill>
            <a:srgbClr val="25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011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1800">
                <a:solidFill>
                  <a:srgbClr val="14B8A6"/>
                </a:solidFill>
                <a:latin typeface="Segoe UI"/>
              </a:defRPr>
            </a:pPr>
            <a:r>
              <a:t>1. Frontend SPA</a:t>
            </a:r>
          </a:p>
          <a:p>
            <a:pPr>
              <a:lnSpc>
                <a:spcPct val="130000"/>
              </a:lnSpc>
              <a:defRPr sz="1350">
                <a:solidFill>
                  <a:srgbClr val="94A3B8"/>
                </a:solidFill>
                <a:latin typeface="Segoe UI"/>
              </a:defRPr>
            </a:pPr>
            <a:r>
              <a:t>HTML5 &amp; Vanilla CSS. Communicates securely via ES6 fetch parameters.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286000" cy="4114800"/>
          </a:xfrm>
          <a:prstGeom prst="round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5870448" y="3474720"/>
            <a:ext cx="228600" cy="320040"/>
          </a:xfrm>
          <a:prstGeom prst="chevron">
            <a:avLst/>
          </a:prstGeom>
          <a:solidFill>
            <a:srgbClr val="25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920240"/>
            <a:ext cx="2011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1800">
                <a:solidFill>
                  <a:srgbClr val="6366F1"/>
                </a:solidFill>
                <a:latin typeface="Segoe UI"/>
              </a:defRPr>
            </a:pPr>
            <a:r>
              <a:t>2. REST API Controller</a:t>
            </a:r>
          </a:p>
          <a:p>
            <a:pPr>
              <a:lnSpc>
                <a:spcPct val="130000"/>
              </a:lnSpc>
              <a:defRPr sz="1350">
                <a:solidFill>
                  <a:srgbClr val="94A3B8"/>
                </a:solidFill>
                <a:latin typeface="Segoe UI"/>
              </a:defRPr>
            </a:pPr>
            <a:r>
              <a:t>Embedded HttpServer mapping endpoints and decoding query parameters.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286000" cy="4114800"/>
          </a:xfrm>
          <a:prstGeom prst="round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8613648" y="3474720"/>
            <a:ext cx="228600" cy="320040"/>
          </a:xfrm>
          <a:prstGeom prst="chevron">
            <a:avLst/>
          </a:prstGeom>
          <a:solidFill>
            <a:srgbClr val="25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2011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1800">
                <a:solidFill>
                  <a:srgbClr val="14B8A6"/>
                </a:solidFill>
                <a:latin typeface="Segoe UI"/>
              </a:defRPr>
            </a:pPr>
            <a:r>
              <a:t>3. Service Logic</a:t>
            </a:r>
          </a:p>
          <a:p>
            <a:pPr>
              <a:lnSpc>
                <a:spcPct val="130000"/>
              </a:lnSpc>
              <a:defRPr sz="1350">
                <a:solidFill>
                  <a:srgbClr val="94A3B8"/>
                </a:solidFill>
                <a:latin typeface="Segoe UI"/>
              </a:defRPr>
            </a:pPr>
            <a:r>
              <a:t>AI NLP prompt processing, anomaly validations, and workforce simulators.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286000" cy="4114800"/>
          </a:xfrm>
          <a:prstGeom prst="round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920240"/>
            <a:ext cx="2011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1800">
                <a:solidFill>
                  <a:srgbClr val="6366F1"/>
                </a:solidFill>
                <a:latin typeface="Segoe UI"/>
              </a:defRPr>
            </a:pPr>
            <a:r>
              <a:t>4. Keep-Alive Database</a:t>
            </a:r>
          </a:p>
          <a:p>
            <a:pPr>
              <a:lnSpc>
                <a:spcPct val="130000"/>
              </a:lnSpc>
              <a:defRPr sz="1350">
                <a:solidFill>
                  <a:srgbClr val="94A3B8"/>
                </a:solidFill>
                <a:latin typeface="Segoe UI"/>
              </a:defRPr>
            </a:pPr>
            <a:r>
              <a:t>Shared database sessions executing queries safely on H2 instances.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DATA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Relational Database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25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657600" cy="4114800"/>
          </a:xfrm>
          <a:prstGeom prst="roundRect">
            <a:avLst/>
          </a:prstGeom>
          <a:solidFill>
            <a:srgbClr val="252636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4B8A6"/>
                </a:solidFill>
                <a:latin typeface="Segoe UI"/>
              </a:defRPr>
            </a:pPr>
            <a:r>
              <a:t>16</a:t>
            </a:r>
          </a:p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Core Relational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645920"/>
            <a:ext cx="6766560" cy="4114800"/>
          </a:xfrm>
          <a:prstGeom prst="round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920240"/>
            <a:ext cx="6217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1800">
                <a:solidFill>
                  <a:srgbClr val="14B8A6"/>
                </a:solidFill>
                <a:latin typeface="Segoe UI"/>
              </a:defRPr>
            </a:pPr>
            <a:r>
              <a:t>SCHEMA SCOPE &amp; INTEGRATIONS</a:t>
            </a:r>
          </a:p>
          <a:p>
            <a:pPr>
              <a:spcAft>
                <a:spcPts val="1000"/>
              </a:spcAft>
              <a:defRPr b="1" sz="1400">
                <a:solidFill>
                  <a:srgbClr val="FFFFFF"/>
                </a:solidFill>
              </a:defRPr>
            </a:pPr>
            <a:r>
              <a:t>•  Identity Access Control: </a:t>
            </a:r>
            <a:r>
              <a:rPr b="0" sz="1300">
                <a:solidFill>
                  <a:srgbClr val="94A3B8"/>
                </a:solidFill>
              </a:rPr>
              <a:t>users and roles tables enforcing ADMIN, HR, FINANCE, and EMPLOYEE permissions.</a:t>
            </a:r>
          </a:p>
          <a:p>
            <a:pPr>
              <a:spcAft>
                <a:spcPts val="1000"/>
              </a:spcAft>
              <a:defRPr b="1" sz="1400">
                <a:solidFill>
                  <a:srgbClr val="FFFFFF"/>
                </a:solidFill>
              </a:defRPr>
            </a:pPr>
            <a:r>
              <a:t>•  Workforce Directory: </a:t>
            </a:r>
            <a:r>
              <a:rPr b="0" sz="1300">
                <a:solidFill>
                  <a:srgbClr val="94A3B8"/>
                </a:solidFill>
              </a:rPr>
              <a:t>employees and departments tables containing salary bounds and organizational reporting units.</a:t>
            </a:r>
          </a:p>
          <a:p>
            <a:pPr>
              <a:spcAft>
                <a:spcPts val="1000"/>
              </a:spcAft>
              <a:defRPr b="1" sz="1400">
                <a:solidFill>
                  <a:srgbClr val="FFFFFF"/>
                </a:solidFill>
              </a:defRPr>
            </a:pPr>
            <a:r>
              <a:t>•  Logistics &amp; Workflow: </a:t>
            </a:r>
            <a:r>
              <a:rPr b="0" sz="1300">
                <a:solidFill>
                  <a:srgbClr val="94A3B8"/>
                </a:solidFill>
              </a:rPr>
              <a:t>attendance records checking timestamps and leave_requests tracking manager approvals.</a:t>
            </a:r>
          </a:p>
          <a:p>
            <a:pPr>
              <a:spcAft>
                <a:spcPts val="1000"/>
              </a:spcAft>
              <a:defRPr b="1" sz="1400">
                <a:solidFill>
                  <a:srgbClr val="FFFFFF"/>
                </a:solidFill>
              </a:defRPr>
            </a:pPr>
            <a:r>
              <a:t>•  Financial Auditing: </a:t>
            </a:r>
            <a:r>
              <a:rPr b="0" sz="1300">
                <a:solidFill>
                  <a:srgbClr val="94A3B8"/>
                </a:solidFill>
              </a:rPr>
              <a:t>payroll, tax_records, and audit_logs tracking updates and command history.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CUSTOM DSAS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Handcrafted Algorithms &amp;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25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920240"/>
          </a:xfrm>
          <a:prstGeom prst="round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5600" b="1">
                <a:solidFill>
                  <a:srgbClr val="14B8A6"/>
                </a:solidFill>
                <a:latin typeface="Segoe UI"/>
              </a:defRPr>
            </a:pPr>
            <a:r>
              <a:t>O(1)</a:t>
            </a:r>
          </a:p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LRU Profile Cache Search Speed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1920240"/>
          </a:xfrm>
          <a:prstGeom prst="round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5600" b="1">
                <a:solidFill>
                  <a:srgbClr val="6366F1"/>
                </a:solidFill>
                <a:latin typeface="Segoe UI"/>
              </a:defRPr>
            </a:pPr>
            <a:r>
              <a:t>O(log N)</a:t>
            </a:r>
          </a:p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Segment Tree Salary Range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920240"/>
          </a:xfrm>
          <a:prstGeom prst="round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4B8A6"/>
                </a:solidFill>
                <a:latin typeface="Segoe UI"/>
              </a:defRPr>
            </a:pPr>
            <a:r>
              <a:t>STRUCTURES IN ACTION</a:t>
            </a:r>
          </a:p>
          <a:p>
            <a:pPr>
              <a:lnSpc>
                <a:spcPct val="120000"/>
              </a:lnSpc>
              <a:defRPr sz="1350">
                <a:solidFill>
                  <a:srgbClr val="FFFFFF"/>
                </a:solidFill>
                <a:latin typeface="Segoe UI"/>
              </a:defRPr>
            </a:pPr>
            <a:r>
              <a:t>• Trie Autocomplete: Prefix-matching autocomplete inside search inputs.</a:t>
            </a:r>
            <a:br/>
            <a:r>
              <a:t>• OrgGraph reporting hierarchy: Directed graph linking employees to managers with cycle check loops.</a:t>
            </a:r>
            <a:br/>
            <a:r>
              <a:t>• Sorter engines: Handwritten QuickSort and MergeSort classes sorting list vectors.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Applied Design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25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914400"/>
          </a:xfrm>
          <a:prstGeom prst="round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14B8A6"/>
                </a:solidFill>
                <a:latin typeface="Segoe UI"/>
              </a:defRPr>
            </a:pPr>
            <a:r>
              <a:t>State Pattern: </a:t>
            </a:r>
            <a:r>
              <a:rPr b="0" sz="1350">
                <a:solidFill>
                  <a:srgbClr val="FFFFFF"/>
                </a:solidFill>
              </a:rPr>
              <a:t>Regulates leave requests workflow (Pending, Approved, Rejected) preventing invalid state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698480" cy="914400"/>
          </a:xfrm>
          <a:prstGeom prst="round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6366F1"/>
                </a:solidFill>
                <a:latin typeface="Segoe UI"/>
              </a:defRPr>
            </a:pPr>
            <a:r>
              <a:t>Command Pattern: </a:t>
            </a:r>
            <a:r>
              <a:rPr b="0" sz="1350">
                <a:solidFill>
                  <a:srgbClr val="FFFFFF"/>
                </a:solidFill>
              </a:rPr>
              <a:t>Wraps update execution (UpdateSalaryCommand). Features a full CommandStack supporting Undo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914400"/>
          </a:xfrm>
          <a:prstGeom prst="round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7764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14B8A6"/>
                </a:solidFill>
                <a:latin typeface="Segoe UI"/>
              </a:defRPr>
            </a:pPr>
            <a:r>
              <a:t>Strategy Pattern: </a:t>
            </a:r>
            <a:r>
              <a:rPr b="0" sz="1350">
                <a:solidFill>
                  <a:srgbClr val="FFFFFF"/>
                </a:solidFill>
              </a:rPr>
              <a:t>Selectable equations for bonus rewards and tax calculations (Old vs New tax regime options).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59"/>
            <a:ext cx="10698480" cy="914400"/>
          </a:xfrm>
          <a:prstGeom prst="round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074919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6366F1"/>
                </a:solidFill>
                <a:latin typeface="Segoe UI"/>
              </a:defRPr>
            </a:pPr>
            <a:r>
              <a:t>Decorator Pattern: </a:t>
            </a:r>
            <a:r>
              <a:rPr b="0" sz="1350">
                <a:solidFill>
                  <a:srgbClr val="FFFFFF"/>
                </a:solidFill>
              </a:rPr>
              <a:t>Calculates net salary breakdown by stacking allowances (HRA, travel, medical) on top of base.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ACCESS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Granular Role Dashboard Segregation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25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377440" cy="4114800"/>
          </a:xfrm>
          <a:prstGeom prst="round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2000">
                <a:solidFill>
                  <a:srgbClr val="14B8A6"/>
                </a:solidFill>
                <a:latin typeface="Segoe UI"/>
              </a:defRPr>
            </a:pPr>
            <a:r>
              <a:t>Employee Portal</a:t>
            </a:r>
          </a:p>
          <a:p>
            <a:pPr>
              <a:spcAft>
                <a:spcPts val="2000"/>
              </a:spcAft>
              <a:defRPr b="1" sz="1200">
                <a:solidFill>
                  <a:srgbClr val="94A3B8"/>
                </a:solidFill>
                <a:latin typeface="Segoe UI"/>
              </a:defRPr>
            </a:pPr>
            <a:r>
              <a:t>Self Services</a:t>
            </a:r>
          </a:p>
          <a:p>
            <a:pPr>
              <a:lnSpc>
                <a:spcPct val="130000"/>
              </a:lnSpc>
              <a:defRPr sz="1300">
                <a:solidFill>
                  <a:srgbClr val="FFFFFF"/>
                </a:solidFill>
                <a:latin typeface="Segoe UI"/>
              </a:defRPr>
            </a:pPr>
            <a:r>
              <a:t>Allows salary breakups review, leave submissions, and history tracking. Hides roster directory.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377440" cy="4114800"/>
          </a:xfrm>
          <a:prstGeom prst="round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2024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2000">
                <a:solidFill>
                  <a:srgbClr val="FFFFFF"/>
                </a:solidFill>
                <a:latin typeface="Segoe UI"/>
              </a:defRPr>
            </a:pPr>
            <a:r>
              <a:t>HR Generalist</a:t>
            </a:r>
          </a:p>
          <a:p>
            <a:pPr>
              <a:spcAft>
                <a:spcPts val="2000"/>
              </a:spcAft>
              <a:defRPr b="1" sz="1200">
                <a:solidFill>
                  <a:srgbClr val="94A3B8"/>
                </a:solidFill>
                <a:latin typeface="Segoe UI"/>
              </a:defRPr>
            </a:pPr>
            <a:r>
              <a:t>Roster Control</a:t>
            </a:r>
          </a:p>
          <a:p>
            <a:pPr>
              <a:lnSpc>
                <a:spcPct val="130000"/>
              </a:lnSpc>
              <a:defRPr sz="1300">
                <a:solidFill>
                  <a:srgbClr val="FFFFFF"/>
                </a:solidFill>
                <a:latin typeface="Segoe UI"/>
              </a:defRPr>
            </a:pPr>
            <a:r>
              <a:t>Roster lookup directory, user creation tools, and leaves approvals panel.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377440" cy="4114800"/>
          </a:xfrm>
          <a:prstGeom prst="round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2024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2000">
                <a:solidFill>
                  <a:srgbClr val="14B8A6"/>
                </a:solidFill>
                <a:latin typeface="Segoe UI"/>
              </a:defRPr>
            </a:pPr>
            <a:r>
              <a:t>Finance Hub</a:t>
            </a:r>
          </a:p>
          <a:p>
            <a:pPr>
              <a:spcAft>
                <a:spcPts val="2000"/>
              </a:spcAft>
              <a:defRPr b="1" sz="1200">
                <a:solidFill>
                  <a:srgbClr val="94A3B8"/>
                </a:solidFill>
                <a:latin typeface="Segoe UI"/>
              </a:defRPr>
            </a:pPr>
            <a:r>
              <a:t>Simulation Modelers</a:t>
            </a:r>
          </a:p>
          <a:p>
            <a:pPr>
              <a:lnSpc>
                <a:spcPct val="130000"/>
              </a:lnSpc>
              <a:defRPr sz="1300">
                <a:solidFill>
                  <a:srgbClr val="FFFFFF"/>
                </a:solidFill>
                <a:latin typeface="Segoe UI"/>
              </a:defRPr>
            </a:pPr>
            <a:r>
              <a:t>Access to salary forecasting and KPI-based promotion prioritisation.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377440" cy="4114800"/>
          </a:xfrm>
          <a:prstGeom prst="round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92024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2000">
                <a:solidFill>
                  <a:srgbClr val="FFFFFF"/>
                </a:solidFill>
                <a:latin typeface="Segoe UI"/>
              </a:defRPr>
            </a:pPr>
            <a:r>
              <a:t>Administrator</a:t>
            </a:r>
          </a:p>
          <a:p>
            <a:pPr>
              <a:spcAft>
                <a:spcPts val="2000"/>
              </a:spcAft>
              <a:defRPr b="1" sz="1200">
                <a:solidFill>
                  <a:srgbClr val="94A3B8"/>
                </a:solidFill>
                <a:latin typeface="Segoe UI"/>
              </a:defRPr>
            </a:pPr>
            <a:r>
              <a:t>Audit &amp; Validation</a:t>
            </a:r>
          </a:p>
          <a:p>
            <a:pPr>
              <a:lnSpc>
                <a:spcPct val="130000"/>
              </a:lnSpc>
              <a:defRPr sz="1300">
                <a:solidFill>
                  <a:srgbClr val="FFFFFF"/>
                </a:solidFill>
                <a:latin typeface="Segoe UI"/>
              </a:defRPr>
            </a:pPr>
            <a:r>
              <a:t>Access to audit logs, company budget statistics, and anomaly detection scanners.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INTELLIGENCE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AI Intelligence &amp; Anomalies Auditing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25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1800">
                <a:solidFill>
                  <a:srgbClr val="6366F1"/>
                </a:solidFill>
                <a:latin typeface="Segoe UI"/>
              </a:defRPr>
            </a:pPr>
            <a:r>
              <a:t>PREDICTIVE FORECASTS &amp; CHATBOT</a:t>
            </a:r>
          </a:p>
          <a:p>
            <a:pPr>
              <a:lnSpc>
                <a:spcPct val="130000"/>
              </a:lnSpc>
              <a:defRPr sz="1350">
                <a:solidFill>
                  <a:srgbClr val="FFFFFF"/>
                </a:solidFill>
                <a:latin typeface="Segoe UI"/>
              </a:defRPr>
            </a:pPr>
            <a:r>
              <a:t>• Conversational Chatbot: NLP engine parsing queries against employee counts and salary averages.</a:t>
            </a:r>
            <a:br/>
            <a:br/>
            <a:r>
              <a:t>• Salary Forecast Simulator: Models budget forecasting and allows interactive testing of tax regime changes.</a:t>
            </a:r>
            <a:br/>
            <a:br/>
            <a:r>
              <a:t>• Promotion Prioritisation: Ranks candidates for promotion by tracking KPI metrics and performance ratings.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14161C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1800">
                <a:solidFill>
                  <a:srgbClr val="14B8A6"/>
                </a:solidFill>
                <a:latin typeface="Segoe UI"/>
              </a:defRPr>
            </a:pPr>
            <a:r>
              <a:t>INTELLIGENT ANOMALY SCANS</a:t>
            </a:r>
          </a:p>
          <a:p>
            <a:pPr>
              <a:lnSpc>
                <a:spcPct val="130000"/>
              </a:lnSpc>
              <a:defRPr sz="1350">
                <a:solidFill>
                  <a:srgbClr val="FFFFFF"/>
                </a:solidFill>
                <a:latin typeface="Segoe UI"/>
              </a:defRPr>
            </a:pPr>
            <a:r>
              <a:t>Algorithmic verification scripts evaluate transaction records to instantly flag:</a:t>
            </a:r>
            <a:br/>
            <a:br/>
            <a:r>
              <a:t>1. Duplicated Profiles: Identifies name/email matches.</a:t>
            </a:r>
            <a:br/>
            <a:br/>
            <a:r>
              <a:t>2. Validation Errors: Negative or zero salary configurations.</a:t>
            </a:r>
            <a:br/>
            <a:br/>
            <a:r>
              <a:t>3. Impossible Attendance: Checks if check-out time precedes check-in.</a:t>
            </a:r>
            <a:br/>
            <a:br/>
            <a:r>
              <a:t>Prevents payroll fraud and keeps the ledger consistent.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Quality Assurance &amp; Deployments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25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657600" cy="4114800"/>
          </a:xfrm>
          <a:prstGeom prst="roundRect">
            <a:avLst/>
          </a:prstGeom>
          <a:solidFill>
            <a:srgbClr val="252636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4B8A6"/>
                </a:solidFill>
                <a:latin typeface="Segoe UI"/>
              </a:defRPr>
            </a:pPr>
            <a:r>
              <a:t>10/10</a:t>
            </a:r>
          </a:p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JUnit 5 Passing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645920"/>
            <a:ext cx="6766560" cy="4114800"/>
          </a:xfrm>
          <a:prstGeom prst="round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920240"/>
            <a:ext cx="6217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1800">
                <a:solidFill>
                  <a:srgbClr val="14B8A6"/>
                </a:solidFill>
                <a:latin typeface="Segoe UI"/>
              </a:defRPr>
            </a:pPr>
            <a:r>
              <a:t>BUILD &amp; INTEGRATION PIPELINE</a:t>
            </a:r>
          </a:p>
          <a:p>
            <a:pPr>
              <a:lnSpc>
                <a:spcPct val="130000"/>
              </a:lnSpc>
              <a:defRPr sz="1350">
                <a:solidFill>
                  <a:srgbClr val="FFFFFF"/>
                </a:solidFill>
                <a:latin typeface="Segoe UI"/>
              </a:defRPr>
            </a:pPr>
            <a:r>
              <a:t>• Widescreen Build Script: build.ps1 checks local Maven configurations, sets Java JDK environment variables, compiles code, and copies frontend resources.</a:t>
            </a:r>
            <a:br/>
            <a:br/>
            <a:r>
              <a:t>• Sibling Resource Mapping: Configured backend/pom.xml to bundle the frontend folder directly inside the packaged target web classpath.</a:t>
            </a:r>
            <a:br/>
            <a:br/>
            <a:r>
              <a:t>• Remote Tracking: Pushed cleanly to user repository on GitHub with correct commit author metadata.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